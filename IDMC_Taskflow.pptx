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gTTlVRzxE/WzH/jsrQnHkO6vp3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B4C4156-9DD3-413D-AA7B-02A0B7223C47}">
  <a:tblStyle styleId="{7B4C4156-9DD3-413D-AA7B-02A0B7223C4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topic: we will see how an e-commerce company handles orders arriving in many formats, first by building and running mappings manually, then by automating everything with a Taskflow in IDMC (Cloud Data Integration).</a:t>
            </a:r>
            <a:endParaRPr/>
          </a:p>
        </p:txBody>
      </p:sp>
      <p:sp>
        <p:nvSpPr>
          <p:cNvPr id="27" name="Google Shape;2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day the platform receives orders from the website, mobile app, marketplaces and B2B partners. Sellers need orders to pack, delivery partners need pickup lists, finance needs invoices and management needs a daily summary. IDMC sits in the middle to standardise and route the data.</a:t>
            </a:r>
            <a:endParaRPr/>
          </a:p>
        </p:txBody>
      </p:sp>
      <p:sp>
        <p:nvSpPr>
          <p:cNvPr id="42" name="Google Shape;4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business event, four different shapes: different field names, different date styles, different price fields. Sellers and delivery partners cannot work with this mess. We must map each source to a common standard model.</a:t>
            </a:r>
            <a:endParaRPr/>
          </a:p>
        </p:txBody>
      </p:sp>
      <p:sp>
        <p:nvSpPr>
          <p:cNvPr id="86" name="Google Shape;8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we look at how this is done without orchestration: one mapping per job, each started by a person.</a:t>
            </a:r>
            <a:endParaRPr/>
          </a:p>
        </p:txBody>
      </p:sp>
      <p:sp>
        <p:nvSpPr>
          <p:cNvPr id="95" name="Google Shape;9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steps: understand every source, create connections, build one mapping per source (this is where we rename fields and fix date formats), a merge mapping that unions the three and enriches with lookups, output mappings for sellers, delivery partners and analytics, and finally run each mapping task by hand in the right order.</a:t>
            </a:r>
            <a:endParaRPr/>
          </a:p>
        </p:txBody>
      </p:sp>
      <p:sp>
        <p:nvSpPr>
          <p:cNvPr id="105" name="Google Shape;10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manual landscape: three staging mappings, one merge mapping and three output mappings. Each has its own mapping task. Someone must start them in exactly the right order and check each result.</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mappings are fine; the problem is running them. Order depends on people, failures go unnoticed, everything is sequential and repetitive. This is exactly what Taskflow solves.</a:t>
            </a:r>
            <a:endParaRPr/>
          </a:p>
        </p:txBody>
      </p:sp>
      <p:sp>
        <p:nvSpPr>
          <p:cNvPr id="163" name="Google Shape;1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same mappings, but orchestrated by a Taskflow.</a:t>
            </a:r>
            <a:endParaRPr/>
          </a:p>
        </p:txBody>
      </p:sp>
      <p:sp>
        <p:nvSpPr>
          <p:cNvPr id="190" name="Google Shape;19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taskflow is the orchestration layer above mapping tasks. The Data Task step runs a mapping task; the other steps give us parallelism, decisions, notifications and more. Step names can vary slightly between IDMC releases.</a:t>
            </a:r>
            <a:endParaRPr/>
          </a:p>
        </p:txBody>
      </p:sp>
      <p:sp>
        <p:nvSpPr>
          <p:cNvPr id="200" name="Google Shape;20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a schedule or file arrival triggers the taskflow. Parallel Paths run the three source mapping tasks at the same time. A merge task standardises everything into one order model. A decision step checks the rejected-row count: if there are rejects, a notification step emails the ops team; otherwise the flow fans out in parallel to the seller feed, delivery partner feed and sales summary.</a:t>
            </a:r>
            <a:endParaRPr/>
          </a:p>
        </p:txBody>
      </p:sp>
      <p:sp>
        <p:nvSpPr>
          <p:cNvPr id="220" name="Google Shape;22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 order: publish the mapping tasks first, then open Data Integration, choose New &gt; Taskflows &gt; Taskflow, drag steps onto the canvas and connect them, set the decision conditions, save and publish. Finally schedule it or trigger it, and monitor it as a single job. Menu labels can differ slightly by release.</a:t>
            </a:r>
            <a:endParaRPr/>
          </a:p>
        </p:txBody>
      </p:sp>
      <p:sp>
        <p:nvSpPr>
          <p:cNvPr id="250" name="Google Shape;25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Side-by-side: who starts it, who controls order, speed, failure handling, alerts and visibility.</a:t>
            </a:r>
            <a:endParaRPr/>
          </a:p>
        </p:txBody>
      </p:sp>
      <p:sp>
        <p:nvSpPr>
          <p:cNvPr id="276" name="Google Shape;27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Highlight automation, parallel speed, alerts, decision logic, reusability and a single place to monitor.</a:t>
            </a:r>
            <a:endParaRPr/>
          </a:p>
        </p:txBody>
      </p:sp>
      <p:sp>
        <p:nvSpPr>
          <p:cNvPr id="284" name="Google Shape;28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the key message: mappings do the transformation, but only a taskflow makes the whole pipeline dependable, fast and observable. Invite questions.</a:t>
            </a:r>
            <a:endParaRPr/>
          </a:p>
        </p:txBody>
      </p:sp>
      <p:sp>
        <p:nvSpPr>
          <p:cNvPr id="321" name="Google Shape;32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_TITLE">
  <p:cSld name="DARK_TITLE">
    <p:bg>
      <p:bgPr>
        <a:solidFill>
          <a:srgbClr val="14213D"/>
        </a:solidFill>
      </p:bgPr>
    </p:bg>
    <p:spTree>
      <p:nvGrpSpPr>
        <p:cNvPr id="11" name="Shape 11"/>
        <p:cNvGrpSpPr/>
        <p:nvPr/>
      </p:nvGrpSpPr>
      <p:grpSpPr>
        <a:xfrm>
          <a:off x="0" y="0"/>
          <a:ext cx="0" cy="0"/>
          <a:chOff x="0" y="0"/>
          <a:chExt cx="0" cy="0"/>
        </a:xfrm>
      </p:grpSpPr>
      <p:sp>
        <p:nvSpPr>
          <p:cNvPr id="12" name="Google Shape;12;p16"/>
          <p:cNvSpPr txBox="1"/>
          <p:nvPr>
            <p:ph type="title"/>
          </p:nvPr>
        </p:nvSpPr>
        <p:spPr>
          <a:xfrm>
            <a:off x="548640" y="1188720"/>
            <a:ext cx="5303520" cy="16459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000"/>
              <a:buFont typeface="Cambria"/>
              <a:buNone/>
              <a:defRPr b="1" i="0" sz="40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6"/>
          <p:cNvSpPr txBox="1"/>
          <p:nvPr>
            <p:ph idx="1" type="body"/>
          </p:nvPr>
        </p:nvSpPr>
        <p:spPr>
          <a:xfrm>
            <a:off x="548640" y="3017520"/>
            <a:ext cx="5120640" cy="109728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lt2"/>
              </a:buClr>
              <a:buSzPts val="1600"/>
              <a:buFont typeface="Arial"/>
              <a:buNone/>
              <a:defRPr b="0" i="0" sz="16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4" name="Shape 14"/>
        <p:cNvGrpSpPr/>
        <p:nvPr/>
      </p:nvGrpSpPr>
      <p:grpSpPr>
        <a:xfrm>
          <a:off x="0" y="0"/>
          <a:ext cx="0" cy="0"/>
          <a:chOff x="0" y="0"/>
          <a:chExt cx="0" cy="0"/>
        </a:xfrm>
      </p:grpSpPr>
      <p:sp>
        <p:nvSpPr>
          <p:cNvPr id="15" name="Google Shape;15;p17"/>
          <p:cNvSpPr txBox="1"/>
          <p:nvPr>
            <p:ph type="title"/>
          </p:nvPr>
        </p:nvSpPr>
        <p:spPr>
          <a:xfrm>
            <a:off x="457200" y="274320"/>
            <a:ext cx="8229600" cy="731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000"/>
              <a:buFont typeface="Cambria"/>
              <a:buNone/>
              <a:defRPr b="1" i="0" sz="30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7"/>
          <p:cNvSpPr txBox="1"/>
          <p:nvPr>
            <p:ph idx="12"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000" u="none" cap="none" strike="noStrike">
                <a:solidFill>
                  <a:srgbClr val="6B7A99"/>
                </a:solidFill>
                <a:latin typeface="Calibri"/>
                <a:ea typeface="Calibri"/>
                <a:cs typeface="Calibri"/>
                <a:sym typeface="Calibri"/>
              </a:defRPr>
            </a:lvl1pPr>
            <a:lvl2pPr indent="0" lvl="1" marL="0" marR="0" algn="l">
              <a:spcBef>
                <a:spcPts val="0"/>
              </a:spcBef>
              <a:buNone/>
              <a:defRPr b="0" i="0" sz="1000" u="none" cap="none" strike="noStrike">
                <a:solidFill>
                  <a:srgbClr val="6B7A99"/>
                </a:solidFill>
                <a:latin typeface="Calibri"/>
                <a:ea typeface="Calibri"/>
                <a:cs typeface="Calibri"/>
                <a:sym typeface="Calibri"/>
              </a:defRPr>
            </a:lvl2pPr>
            <a:lvl3pPr indent="0" lvl="2" marL="0" marR="0" algn="l">
              <a:spcBef>
                <a:spcPts val="0"/>
              </a:spcBef>
              <a:buNone/>
              <a:defRPr b="0" i="0" sz="1000" u="none" cap="none" strike="noStrike">
                <a:solidFill>
                  <a:srgbClr val="6B7A99"/>
                </a:solidFill>
                <a:latin typeface="Calibri"/>
                <a:ea typeface="Calibri"/>
                <a:cs typeface="Calibri"/>
                <a:sym typeface="Calibri"/>
              </a:defRPr>
            </a:lvl3pPr>
            <a:lvl4pPr indent="0" lvl="3" marL="0" marR="0" algn="l">
              <a:spcBef>
                <a:spcPts val="0"/>
              </a:spcBef>
              <a:buNone/>
              <a:defRPr b="0" i="0" sz="1000" u="none" cap="none" strike="noStrike">
                <a:solidFill>
                  <a:srgbClr val="6B7A99"/>
                </a:solidFill>
                <a:latin typeface="Calibri"/>
                <a:ea typeface="Calibri"/>
                <a:cs typeface="Calibri"/>
                <a:sym typeface="Calibri"/>
              </a:defRPr>
            </a:lvl4pPr>
            <a:lvl5pPr indent="0" lvl="4" marL="0" marR="0" algn="l">
              <a:spcBef>
                <a:spcPts val="0"/>
              </a:spcBef>
              <a:buNone/>
              <a:defRPr b="0" i="0" sz="1000" u="none" cap="none" strike="noStrike">
                <a:solidFill>
                  <a:srgbClr val="6B7A99"/>
                </a:solidFill>
                <a:latin typeface="Calibri"/>
                <a:ea typeface="Calibri"/>
                <a:cs typeface="Calibri"/>
                <a:sym typeface="Calibri"/>
              </a:defRPr>
            </a:lvl5pPr>
            <a:lvl6pPr indent="0" lvl="5" marL="0" marR="0" algn="l">
              <a:spcBef>
                <a:spcPts val="0"/>
              </a:spcBef>
              <a:buNone/>
              <a:defRPr b="0" i="0" sz="1000" u="none" cap="none" strike="noStrike">
                <a:solidFill>
                  <a:srgbClr val="6B7A99"/>
                </a:solidFill>
                <a:latin typeface="Calibri"/>
                <a:ea typeface="Calibri"/>
                <a:cs typeface="Calibri"/>
                <a:sym typeface="Calibri"/>
              </a:defRPr>
            </a:lvl6pPr>
            <a:lvl7pPr indent="0" lvl="6" marL="0" marR="0" algn="l">
              <a:spcBef>
                <a:spcPts val="0"/>
              </a:spcBef>
              <a:buNone/>
              <a:defRPr b="0" i="0" sz="1000" u="none" cap="none" strike="noStrike">
                <a:solidFill>
                  <a:srgbClr val="6B7A99"/>
                </a:solidFill>
                <a:latin typeface="Calibri"/>
                <a:ea typeface="Calibri"/>
                <a:cs typeface="Calibri"/>
                <a:sym typeface="Calibri"/>
              </a:defRPr>
            </a:lvl7pPr>
            <a:lvl8pPr indent="0" lvl="7" marL="0" marR="0" algn="l">
              <a:spcBef>
                <a:spcPts val="0"/>
              </a:spcBef>
              <a:buNone/>
              <a:defRPr b="0" i="0" sz="1000" u="none" cap="none" strike="noStrike">
                <a:solidFill>
                  <a:srgbClr val="6B7A99"/>
                </a:solidFill>
                <a:latin typeface="Calibri"/>
                <a:ea typeface="Calibri"/>
                <a:cs typeface="Calibri"/>
                <a:sym typeface="Calibri"/>
              </a:defRPr>
            </a:lvl8pPr>
            <a:lvl9pPr indent="0" lvl="8" marL="0" marR="0" algn="l">
              <a:spcBef>
                <a:spcPts val="0"/>
              </a:spcBef>
              <a:buNone/>
              <a:defRPr b="0" i="0" sz="1000" u="none" cap="none" strike="noStrike">
                <a:solidFill>
                  <a:srgbClr val="6B7A99"/>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_SECTION">
  <p:cSld name="DARK_SECTION">
    <p:bg>
      <p:bgPr>
        <a:solidFill>
          <a:srgbClr val="14213D"/>
        </a:solidFill>
      </p:bgPr>
    </p:bg>
    <p:spTree>
      <p:nvGrpSpPr>
        <p:cNvPr id="17" name="Shape 17"/>
        <p:cNvGrpSpPr/>
        <p:nvPr/>
      </p:nvGrpSpPr>
      <p:grpSpPr>
        <a:xfrm>
          <a:off x="0" y="0"/>
          <a:ext cx="0" cy="0"/>
          <a:chOff x="0" y="0"/>
          <a:chExt cx="0" cy="0"/>
        </a:xfrm>
      </p:grpSpPr>
      <p:sp>
        <p:nvSpPr>
          <p:cNvPr id="18" name="Google Shape;18;p18"/>
          <p:cNvSpPr txBox="1"/>
          <p:nvPr>
            <p:ph type="title"/>
          </p:nvPr>
        </p:nvSpPr>
        <p:spPr>
          <a:xfrm>
            <a:off x="548640" y="1828800"/>
            <a:ext cx="5394960" cy="10972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800"/>
              <a:buFont typeface="Cambria"/>
              <a:buNone/>
              <a:defRPr b="1" i="0" sz="3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18"/>
          <p:cNvSpPr txBox="1"/>
          <p:nvPr>
            <p:ph idx="1" type="body"/>
          </p:nvPr>
        </p:nvSpPr>
        <p:spPr>
          <a:xfrm>
            <a:off x="548640" y="3017520"/>
            <a:ext cx="5120640" cy="9144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lt2"/>
              </a:buClr>
              <a:buSzPts val="1600"/>
              <a:buFont typeface="Arial"/>
              <a:buNone/>
              <a:defRPr b="0" i="0" sz="16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_CONTENT">
  <p:cSld name="DARK_CONTENT">
    <p:bg>
      <p:bgPr>
        <a:solidFill>
          <a:srgbClr val="14213D"/>
        </a:solidFill>
      </p:bgPr>
    </p:bg>
    <p:spTree>
      <p:nvGrpSpPr>
        <p:cNvPr id="20" name="Shape 20"/>
        <p:cNvGrpSpPr/>
        <p:nvPr/>
      </p:nvGrpSpPr>
      <p:grpSpPr>
        <a:xfrm>
          <a:off x="0" y="0"/>
          <a:ext cx="0" cy="0"/>
          <a:chOff x="0" y="0"/>
          <a:chExt cx="0" cy="0"/>
        </a:xfrm>
      </p:grpSpPr>
      <p:sp>
        <p:nvSpPr>
          <p:cNvPr id="21" name="Google Shape;21;p19"/>
          <p:cNvSpPr txBox="1"/>
          <p:nvPr>
            <p:ph type="title"/>
          </p:nvPr>
        </p:nvSpPr>
        <p:spPr>
          <a:xfrm>
            <a:off x="457200" y="274320"/>
            <a:ext cx="8229600" cy="731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000"/>
              <a:buFont typeface="Cambria"/>
              <a:buNone/>
              <a:defRPr b="1" i="0" sz="30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9"/>
          <p:cNvSpPr txBox="1"/>
          <p:nvPr>
            <p:ph idx="12"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000" u="none" cap="none" strike="noStrike">
                <a:solidFill>
                  <a:srgbClr val="9AA6C4"/>
                </a:solidFill>
                <a:latin typeface="Calibri"/>
                <a:ea typeface="Calibri"/>
                <a:cs typeface="Calibri"/>
                <a:sym typeface="Calibri"/>
              </a:defRPr>
            </a:lvl1pPr>
            <a:lvl2pPr indent="0" lvl="1" marL="0" marR="0" algn="l">
              <a:spcBef>
                <a:spcPts val="0"/>
              </a:spcBef>
              <a:buNone/>
              <a:defRPr b="0" i="0" sz="1000" u="none" cap="none" strike="noStrike">
                <a:solidFill>
                  <a:srgbClr val="9AA6C4"/>
                </a:solidFill>
                <a:latin typeface="Calibri"/>
                <a:ea typeface="Calibri"/>
                <a:cs typeface="Calibri"/>
                <a:sym typeface="Calibri"/>
              </a:defRPr>
            </a:lvl2pPr>
            <a:lvl3pPr indent="0" lvl="2" marL="0" marR="0" algn="l">
              <a:spcBef>
                <a:spcPts val="0"/>
              </a:spcBef>
              <a:buNone/>
              <a:defRPr b="0" i="0" sz="1000" u="none" cap="none" strike="noStrike">
                <a:solidFill>
                  <a:srgbClr val="9AA6C4"/>
                </a:solidFill>
                <a:latin typeface="Calibri"/>
                <a:ea typeface="Calibri"/>
                <a:cs typeface="Calibri"/>
                <a:sym typeface="Calibri"/>
              </a:defRPr>
            </a:lvl3pPr>
            <a:lvl4pPr indent="0" lvl="3" marL="0" marR="0" algn="l">
              <a:spcBef>
                <a:spcPts val="0"/>
              </a:spcBef>
              <a:buNone/>
              <a:defRPr b="0" i="0" sz="1000" u="none" cap="none" strike="noStrike">
                <a:solidFill>
                  <a:srgbClr val="9AA6C4"/>
                </a:solidFill>
                <a:latin typeface="Calibri"/>
                <a:ea typeface="Calibri"/>
                <a:cs typeface="Calibri"/>
                <a:sym typeface="Calibri"/>
              </a:defRPr>
            </a:lvl4pPr>
            <a:lvl5pPr indent="0" lvl="4" marL="0" marR="0" algn="l">
              <a:spcBef>
                <a:spcPts val="0"/>
              </a:spcBef>
              <a:buNone/>
              <a:defRPr b="0" i="0" sz="1000" u="none" cap="none" strike="noStrike">
                <a:solidFill>
                  <a:srgbClr val="9AA6C4"/>
                </a:solidFill>
                <a:latin typeface="Calibri"/>
                <a:ea typeface="Calibri"/>
                <a:cs typeface="Calibri"/>
                <a:sym typeface="Calibri"/>
              </a:defRPr>
            </a:lvl5pPr>
            <a:lvl6pPr indent="0" lvl="5" marL="0" marR="0" algn="l">
              <a:spcBef>
                <a:spcPts val="0"/>
              </a:spcBef>
              <a:buNone/>
              <a:defRPr b="0" i="0" sz="1000" u="none" cap="none" strike="noStrike">
                <a:solidFill>
                  <a:srgbClr val="9AA6C4"/>
                </a:solidFill>
                <a:latin typeface="Calibri"/>
                <a:ea typeface="Calibri"/>
                <a:cs typeface="Calibri"/>
                <a:sym typeface="Calibri"/>
              </a:defRPr>
            </a:lvl6pPr>
            <a:lvl7pPr indent="0" lvl="6" marL="0" marR="0" algn="l">
              <a:spcBef>
                <a:spcPts val="0"/>
              </a:spcBef>
              <a:buNone/>
              <a:defRPr b="0" i="0" sz="1000" u="none" cap="none" strike="noStrike">
                <a:solidFill>
                  <a:srgbClr val="9AA6C4"/>
                </a:solidFill>
                <a:latin typeface="Calibri"/>
                <a:ea typeface="Calibri"/>
                <a:cs typeface="Calibri"/>
                <a:sym typeface="Calibri"/>
              </a:defRPr>
            </a:lvl7pPr>
            <a:lvl8pPr indent="0" lvl="7" marL="0" marR="0" algn="l">
              <a:spcBef>
                <a:spcPts val="0"/>
              </a:spcBef>
              <a:buNone/>
              <a:defRPr b="0" i="0" sz="1000" u="none" cap="none" strike="noStrike">
                <a:solidFill>
                  <a:srgbClr val="9AA6C4"/>
                </a:solidFill>
                <a:latin typeface="Calibri"/>
                <a:ea typeface="Calibri"/>
                <a:cs typeface="Calibri"/>
                <a:sym typeface="Calibri"/>
              </a:defRPr>
            </a:lvl8pPr>
            <a:lvl9pPr indent="0" lvl="8" marL="0" marR="0" algn="l">
              <a:spcBef>
                <a:spcPts val="0"/>
              </a:spcBef>
              <a:buNone/>
              <a:defRPr b="0" i="0" sz="1000" u="none" cap="none" strike="noStrike">
                <a:solidFill>
                  <a:srgbClr val="9AA6C4"/>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3" name="Shape 2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5"/>
          <p:cNvSpPr txBox="1"/>
          <p:nvPr>
            <p:ph idx="12"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000" u="none" cap="none" strike="noStrike">
                <a:solidFill>
                  <a:srgbClr val="6B7A99"/>
                </a:solidFill>
                <a:latin typeface="Calibri"/>
                <a:ea typeface="Calibri"/>
                <a:cs typeface="Calibri"/>
                <a:sym typeface="Calibri"/>
              </a:defRPr>
            </a:lvl1pPr>
            <a:lvl2pPr indent="0" lvl="1" marL="0" marR="0" rtl="0" algn="l">
              <a:spcBef>
                <a:spcPts val="0"/>
              </a:spcBef>
              <a:buNone/>
              <a:defRPr b="0" i="0" sz="1000" u="none" cap="none" strike="noStrike">
                <a:solidFill>
                  <a:srgbClr val="6B7A99"/>
                </a:solidFill>
                <a:latin typeface="Calibri"/>
                <a:ea typeface="Calibri"/>
                <a:cs typeface="Calibri"/>
                <a:sym typeface="Calibri"/>
              </a:defRPr>
            </a:lvl2pPr>
            <a:lvl3pPr indent="0" lvl="2" marL="0" marR="0" rtl="0" algn="l">
              <a:spcBef>
                <a:spcPts val="0"/>
              </a:spcBef>
              <a:buNone/>
              <a:defRPr b="0" i="0" sz="1000" u="none" cap="none" strike="noStrike">
                <a:solidFill>
                  <a:srgbClr val="6B7A99"/>
                </a:solidFill>
                <a:latin typeface="Calibri"/>
                <a:ea typeface="Calibri"/>
                <a:cs typeface="Calibri"/>
                <a:sym typeface="Calibri"/>
              </a:defRPr>
            </a:lvl3pPr>
            <a:lvl4pPr indent="0" lvl="3" marL="0" marR="0" rtl="0" algn="l">
              <a:spcBef>
                <a:spcPts val="0"/>
              </a:spcBef>
              <a:buNone/>
              <a:defRPr b="0" i="0" sz="1000" u="none" cap="none" strike="noStrike">
                <a:solidFill>
                  <a:srgbClr val="6B7A99"/>
                </a:solidFill>
                <a:latin typeface="Calibri"/>
                <a:ea typeface="Calibri"/>
                <a:cs typeface="Calibri"/>
                <a:sym typeface="Calibri"/>
              </a:defRPr>
            </a:lvl4pPr>
            <a:lvl5pPr indent="0" lvl="4" marL="0" marR="0" rtl="0" algn="l">
              <a:spcBef>
                <a:spcPts val="0"/>
              </a:spcBef>
              <a:buNone/>
              <a:defRPr b="0" i="0" sz="1000" u="none" cap="none" strike="noStrike">
                <a:solidFill>
                  <a:srgbClr val="6B7A99"/>
                </a:solidFill>
                <a:latin typeface="Calibri"/>
                <a:ea typeface="Calibri"/>
                <a:cs typeface="Calibri"/>
                <a:sym typeface="Calibri"/>
              </a:defRPr>
            </a:lvl5pPr>
            <a:lvl6pPr indent="0" lvl="5" marL="0" marR="0" rtl="0" algn="l">
              <a:spcBef>
                <a:spcPts val="0"/>
              </a:spcBef>
              <a:buNone/>
              <a:defRPr b="0" i="0" sz="1000" u="none" cap="none" strike="noStrike">
                <a:solidFill>
                  <a:srgbClr val="6B7A99"/>
                </a:solidFill>
                <a:latin typeface="Calibri"/>
                <a:ea typeface="Calibri"/>
                <a:cs typeface="Calibri"/>
                <a:sym typeface="Calibri"/>
              </a:defRPr>
            </a:lvl6pPr>
            <a:lvl7pPr indent="0" lvl="6" marL="0" marR="0" rtl="0" algn="l">
              <a:spcBef>
                <a:spcPts val="0"/>
              </a:spcBef>
              <a:buNone/>
              <a:defRPr b="0" i="0" sz="1000" u="none" cap="none" strike="noStrike">
                <a:solidFill>
                  <a:srgbClr val="6B7A99"/>
                </a:solidFill>
                <a:latin typeface="Calibri"/>
                <a:ea typeface="Calibri"/>
                <a:cs typeface="Calibri"/>
                <a:sym typeface="Calibri"/>
              </a:defRPr>
            </a:lvl7pPr>
            <a:lvl8pPr indent="0" lvl="7" marL="0" marR="0" rtl="0" algn="l">
              <a:spcBef>
                <a:spcPts val="0"/>
              </a:spcBef>
              <a:buNone/>
              <a:defRPr b="0" i="0" sz="1000" u="none" cap="none" strike="noStrike">
                <a:solidFill>
                  <a:srgbClr val="6B7A99"/>
                </a:solidFill>
                <a:latin typeface="Calibri"/>
                <a:ea typeface="Calibri"/>
                <a:cs typeface="Calibri"/>
                <a:sym typeface="Calibri"/>
              </a:defRPr>
            </a:lvl8pPr>
            <a:lvl9pPr indent="0" lvl="8" marL="0" marR="0" rtl="0" algn="l">
              <a:spcBef>
                <a:spcPts val="0"/>
              </a:spcBef>
              <a:buNone/>
              <a:defRPr b="0" i="0" sz="1000" u="none" cap="none" strike="noStrike">
                <a:solidFill>
                  <a:srgbClr val="6B7A99"/>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7.png"/><Relationship Id="rId10" Type="http://schemas.openxmlformats.org/officeDocument/2006/relationships/image" Target="../media/image3.png"/><Relationship Id="rId9"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1.png"/><Relationship Id="rId7" Type="http://schemas.openxmlformats.org/officeDocument/2006/relationships/image" Target="../media/image6.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4.pn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21.png"/><Relationship Id="rId7" Type="http://schemas.openxmlformats.org/officeDocument/2006/relationships/image" Target="../media/image24.png"/><Relationship Id="rId8"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p1"/>
          <p:cNvSpPr txBox="1"/>
          <p:nvPr>
            <p:ph type="title"/>
          </p:nvPr>
        </p:nvSpPr>
        <p:spPr>
          <a:xfrm>
            <a:off x="548640" y="1188720"/>
            <a:ext cx="5303520" cy="164592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4000"/>
              <a:buFont typeface="Cambria"/>
              <a:buNone/>
            </a:pPr>
            <a:r>
              <a:rPr b="1" lang="en-US" sz="4000">
                <a:solidFill>
                  <a:schemeClr val="lt1"/>
                </a:solidFill>
              </a:rPr>
              <a:t>Taskflow in Informatica IDMC</a:t>
            </a:r>
            <a:endParaRPr sz="4000"/>
          </a:p>
        </p:txBody>
      </p:sp>
      <p:sp>
        <p:nvSpPr>
          <p:cNvPr id="30" name="Google Shape;30;p1"/>
          <p:cNvSpPr txBox="1"/>
          <p:nvPr>
            <p:ph idx="1" type="body"/>
          </p:nvPr>
        </p:nvSpPr>
        <p:spPr>
          <a:xfrm>
            <a:off x="548640" y="3017520"/>
            <a:ext cx="5120640" cy="10972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t/>
            </a:r>
            <a:endParaRPr sz="1600"/>
          </a:p>
        </p:txBody>
      </p:sp>
      <p:sp>
        <p:nvSpPr>
          <p:cNvPr id="31" name="Google Shape;31;p1"/>
          <p:cNvSpPr/>
          <p:nvPr/>
        </p:nvSpPr>
        <p:spPr>
          <a:xfrm>
            <a:off x="6217920" y="1371600"/>
            <a:ext cx="1143000" cy="114300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 name="Google Shape;32;p1"/>
          <p:cNvPicPr preferRelativeResize="0"/>
          <p:nvPr/>
        </p:nvPicPr>
        <p:blipFill rotWithShape="1">
          <a:blip r:embed="rId3">
            <a:alphaModFix/>
          </a:blip>
          <a:srcRect b="0" l="0" r="0" t="0"/>
          <a:stretch/>
        </p:blipFill>
        <p:spPr>
          <a:xfrm>
            <a:off x="6503670" y="1657350"/>
            <a:ext cx="571500" cy="571500"/>
          </a:xfrm>
          <a:prstGeom prst="rect">
            <a:avLst/>
          </a:prstGeom>
          <a:noFill/>
          <a:ln>
            <a:noFill/>
          </a:ln>
        </p:spPr>
      </p:pic>
      <p:sp>
        <p:nvSpPr>
          <p:cNvPr id="33" name="Google Shape;33;p1"/>
          <p:cNvSpPr/>
          <p:nvPr/>
        </p:nvSpPr>
        <p:spPr>
          <a:xfrm>
            <a:off x="7498080" y="1371600"/>
            <a:ext cx="1143000" cy="1143000"/>
          </a:xfrm>
          <a:prstGeom prst="ellipse">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 name="Google Shape;34;p1"/>
          <p:cNvPicPr preferRelativeResize="0"/>
          <p:nvPr/>
        </p:nvPicPr>
        <p:blipFill rotWithShape="1">
          <a:blip r:embed="rId4">
            <a:alphaModFix/>
          </a:blip>
          <a:srcRect b="0" l="0" r="0" t="0"/>
          <a:stretch/>
        </p:blipFill>
        <p:spPr>
          <a:xfrm>
            <a:off x="7783830" y="1657350"/>
            <a:ext cx="571500" cy="571500"/>
          </a:xfrm>
          <a:prstGeom prst="rect">
            <a:avLst/>
          </a:prstGeom>
          <a:noFill/>
          <a:ln>
            <a:noFill/>
          </a:ln>
        </p:spPr>
      </p:pic>
      <p:sp>
        <p:nvSpPr>
          <p:cNvPr id="35" name="Google Shape;35;p1"/>
          <p:cNvSpPr/>
          <p:nvPr/>
        </p:nvSpPr>
        <p:spPr>
          <a:xfrm>
            <a:off x="6217920" y="2651760"/>
            <a:ext cx="1143000" cy="1143000"/>
          </a:xfrm>
          <a:prstGeom prst="ellipse">
            <a:avLst/>
          </a:prstGeom>
          <a:solidFill>
            <a:srgbClr val="3D5A99"/>
          </a:solidFill>
          <a:ln cap="flat" cmpd="sng" w="12700">
            <a:solidFill>
              <a:srgbClr val="3D5A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 name="Google Shape;36;p1"/>
          <p:cNvPicPr preferRelativeResize="0"/>
          <p:nvPr/>
        </p:nvPicPr>
        <p:blipFill rotWithShape="1">
          <a:blip r:embed="rId5">
            <a:alphaModFix/>
          </a:blip>
          <a:srcRect b="0" l="0" r="0" t="0"/>
          <a:stretch/>
        </p:blipFill>
        <p:spPr>
          <a:xfrm>
            <a:off x="6503670" y="2937510"/>
            <a:ext cx="571500" cy="571500"/>
          </a:xfrm>
          <a:prstGeom prst="rect">
            <a:avLst/>
          </a:prstGeom>
          <a:noFill/>
          <a:ln>
            <a:noFill/>
          </a:ln>
        </p:spPr>
      </p:pic>
      <p:sp>
        <p:nvSpPr>
          <p:cNvPr id="37" name="Google Shape;37;p1"/>
          <p:cNvSpPr/>
          <p:nvPr/>
        </p:nvSpPr>
        <p:spPr>
          <a:xfrm>
            <a:off x="7498080" y="2651760"/>
            <a:ext cx="1143000" cy="1143000"/>
          </a:xfrm>
          <a:prstGeom prst="ellipse">
            <a:avLst/>
          </a:prstGeom>
          <a:solidFill>
            <a:srgbClr val="E9B44C"/>
          </a:solidFill>
          <a:ln cap="flat" cmpd="sng" w="12700">
            <a:solidFill>
              <a:srgbClr val="E9B4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 name="Google Shape;38;p1"/>
          <p:cNvPicPr preferRelativeResize="0"/>
          <p:nvPr/>
        </p:nvPicPr>
        <p:blipFill rotWithShape="1">
          <a:blip r:embed="rId6">
            <a:alphaModFix/>
          </a:blip>
          <a:srcRect b="0" l="0" r="0" t="0"/>
          <a:stretch/>
        </p:blipFill>
        <p:spPr>
          <a:xfrm>
            <a:off x="7783830" y="2937510"/>
            <a:ext cx="571500" cy="571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2"/>
          <p:cNvSpPr txBox="1"/>
          <p:nvPr>
            <p:ph type="title"/>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Cambria"/>
              <a:buNone/>
            </a:pPr>
            <a:r>
              <a:rPr b="1" lang="en-US" sz="3000">
                <a:solidFill>
                  <a:schemeClr val="dk2"/>
                </a:solidFill>
              </a:rPr>
              <a:t>Our example: an e-commerce platform</a:t>
            </a:r>
            <a:endParaRPr sz="3000"/>
          </a:p>
        </p:txBody>
      </p:sp>
      <p:sp>
        <p:nvSpPr>
          <p:cNvPr id="45" name="Google Shape;45;p2"/>
          <p:cNvSpPr txBox="1"/>
          <p:nvPr/>
        </p:nvSpPr>
        <p:spPr>
          <a:xfrm>
            <a:off x="457200" y="1005840"/>
            <a:ext cx="26517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ORDERS COME IN FROM</a:t>
            </a:r>
            <a:endParaRPr b="0" i="0" sz="1200" u="none" cap="none" strike="noStrike">
              <a:solidFill>
                <a:schemeClr val="dk1"/>
              </a:solidFill>
              <a:latin typeface="Calibri"/>
              <a:ea typeface="Calibri"/>
              <a:cs typeface="Calibri"/>
              <a:sym typeface="Calibri"/>
            </a:endParaRPr>
          </a:p>
        </p:txBody>
      </p:sp>
      <p:sp>
        <p:nvSpPr>
          <p:cNvPr id="46" name="Google Shape;46;p2"/>
          <p:cNvSpPr txBox="1"/>
          <p:nvPr/>
        </p:nvSpPr>
        <p:spPr>
          <a:xfrm>
            <a:off x="6035040" y="1005840"/>
            <a:ext cx="26517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DATA IS NEEDED BY</a:t>
            </a:r>
            <a:endParaRPr b="0" i="0" sz="1200" u="none" cap="none" strike="noStrike">
              <a:solidFill>
                <a:schemeClr val="dk1"/>
              </a:solidFill>
              <a:latin typeface="Calibri"/>
              <a:ea typeface="Calibri"/>
              <a:cs typeface="Calibri"/>
              <a:sym typeface="Calibri"/>
            </a:endParaRPr>
          </a:p>
        </p:txBody>
      </p:sp>
      <p:sp>
        <p:nvSpPr>
          <p:cNvPr id="47" name="Google Shape;47;p2"/>
          <p:cNvSpPr/>
          <p:nvPr/>
        </p:nvSpPr>
        <p:spPr>
          <a:xfrm>
            <a:off x="457200" y="1371600"/>
            <a:ext cx="2651760" cy="685800"/>
          </a:xfrm>
          <a:prstGeom prst="roundRect">
            <a:avLst>
              <a:gd fmla="val 16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566928" y="1463040"/>
            <a:ext cx="502920" cy="50292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2"/>
          <p:cNvPicPr preferRelativeResize="0"/>
          <p:nvPr/>
        </p:nvPicPr>
        <p:blipFill rotWithShape="1">
          <a:blip r:embed="rId3">
            <a:alphaModFix/>
          </a:blip>
          <a:srcRect b="0" l="0" r="0" t="0"/>
          <a:stretch/>
        </p:blipFill>
        <p:spPr>
          <a:xfrm>
            <a:off x="692658" y="1588770"/>
            <a:ext cx="251460" cy="251460"/>
          </a:xfrm>
          <a:prstGeom prst="rect">
            <a:avLst/>
          </a:prstGeom>
          <a:noFill/>
          <a:ln>
            <a:noFill/>
          </a:ln>
        </p:spPr>
      </p:pic>
      <p:sp>
        <p:nvSpPr>
          <p:cNvPr id="50" name="Google Shape;50;p2"/>
          <p:cNvSpPr txBox="1"/>
          <p:nvPr/>
        </p:nvSpPr>
        <p:spPr>
          <a:xfrm>
            <a:off x="1188720" y="1371600"/>
            <a:ext cx="18745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Website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JSON</a:t>
            </a:r>
            <a:endParaRPr b="0" i="0" sz="1500" u="none" cap="none" strike="noStrike">
              <a:solidFill>
                <a:schemeClr val="dk1"/>
              </a:solidFill>
              <a:latin typeface="Calibri"/>
              <a:ea typeface="Calibri"/>
              <a:cs typeface="Calibri"/>
              <a:sym typeface="Calibri"/>
            </a:endParaRPr>
          </a:p>
        </p:txBody>
      </p:sp>
      <p:sp>
        <p:nvSpPr>
          <p:cNvPr id="51" name="Google Shape;51;p2"/>
          <p:cNvSpPr/>
          <p:nvPr/>
        </p:nvSpPr>
        <p:spPr>
          <a:xfrm>
            <a:off x="6035040" y="1371600"/>
            <a:ext cx="2651760" cy="685800"/>
          </a:xfrm>
          <a:prstGeom prst="roundRect">
            <a:avLst>
              <a:gd fmla="val 16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6144768" y="1463040"/>
            <a:ext cx="502920" cy="502920"/>
          </a:xfrm>
          <a:prstGeom prst="ellipse">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2"/>
          <p:cNvPicPr preferRelativeResize="0"/>
          <p:nvPr/>
        </p:nvPicPr>
        <p:blipFill rotWithShape="1">
          <a:blip r:embed="rId4">
            <a:alphaModFix/>
          </a:blip>
          <a:srcRect b="0" l="0" r="0" t="0"/>
          <a:stretch/>
        </p:blipFill>
        <p:spPr>
          <a:xfrm>
            <a:off x="6270498" y="1588770"/>
            <a:ext cx="251460" cy="251460"/>
          </a:xfrm>
          <a:prstGeom prst="rect">
            <a:avLst/>
          </a:prstGeom>
          <a:noFill/>
          <a:ln>
            <a:noFill/>
          </a:ln>
        </p:spPr>
      </p:pic>
      <p:sp>
        <p:nvSpPr>
          <p:cNvPr id="54" name="Google Shape;54;p2"/>
          <p:cNvSpPr txBox="1"/>
          <p:nvPr/>
        </p:nvSpPr>
        <p:spPr>
          <a:xfrm>
            <a:off x="6766560" y="1371600"/>
            <a:ext cx="18745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Sellers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Orders to pack</a:t>
            </a:r>
            <a:endParaRPr b="0" i="0" sz="1500" u="none" cap="none" strike="noStrike">
              <a:solidFill>
                <a:schemeClr val="dk1"/>
              </a:solidFill>
              <a:latin typeface="Calibri"/>
              <a:ea typeface="Calibri"/>
              <a:cs typeface="Calibri"/>
              <a:sym typeface="Calibri"/>
            </a:endParaRPr>
          </a:p>
        </p:txBody>
      </p:sp>
      <p:sp>
        <p:nvSpPr>
          <p:cNvPr id="55" name="Google Shape;55;p2"/>
          <p:cNvSpPr/>
          <p:nvPr/>
        </p:nvSpPr>
        <p:spPr>
          <a:xfrm>
            <a:off x="457200" y="2148840"/>
            <a:ext cx="2651760" cy="685800"/>
          </a:xfrm>
          <a:prstGeom prst="roundRect">
            <a:avLst>
              <a:gd fmla="val 16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566928" y="2240280"/>
            <a:ext cx="502920" cy="50292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 name="Google Shape;57;p2"/>
          <p:cNvPicPr preferRelativeResize="0"/>
          <p:nvPr/>
        </p:nvPicPr>
        <p:blipFill rotWithShape="1">
          <a:blip r:embed="rId5">
            <a:alphaModFix/>
          </a:blip>
          <a:srcRect b="0" l="0" r="0" t="0"/>
          <a:stretch/>
        </p:blipFill>
        <p:spPr>
          <a:xfrm>
            <a:off x="692658" y="2366010"/>
            <a:ext cx="251460" cy="251460"/>
          </a:xfrm>
          <a:prstGeom prst="rect">
            <a:avLst/>
          </a:prstGeom>
          <a:noFill/>
          <a:ln>
            <a:noFill/>
          </a:ln>
        </p:spPr>
      </p:pic>
      <p:sp>
        <p:nvSpPr>
          <p:cNvPr id="58" name="Google Shape;58;p2"/>
          <p:cNvSpPr txBox="1"/>
          <p:nvPr/>
        </p:nvSpPr>
        <p:spPr>
          <a:xfrm>
            <a:off x="1188720" y="2148840"/>
            <a:ext cx="18745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Mobile app</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JSON API</a:t>
            </a:r>
            <a:endParaRPr b="0" i="0" sz="1500" u="none" cap="none" strike="noStrike">
              <a:solidFill>
                <a:schemeClr val="dk1"/>
              </a:solidFill>
              <a:latin typeface="Calibri"/>
              <a:ea typeface="Calibri"/>
              <a:cs typeface="Calibri"/>
              <a:sym typeface="Calibri"/>
            </a:endParaRPr>
          </a:p>
        </p:txBody>
      </p:sp>
      <p:sp>
        <p:nvSpPr>
          <p:cNvPr id="59" name="Google Shape;59;p2"/>
          <p:cNvSpPr/>
          <p:nvPr/>
        </p:nvSpPr>
        <p:spPr>
          <a:xfrm>
            <a:off x="6035040" y="2148840"/>
            <a:ext cx="2651760" cy="685800"/>
          </a:xfrm>
          <a:prstGeom prst="roundRect">
            <a:avLst>
              <a:gd fmla="val 16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6144768" y="2240280"/>
            <a:ext cx="502920" cy="502920"/>
          </a:xfrm>
          <a:prstGeom prst="ellipse">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 name="Google Shape;61;p2"/>
          <p:cNvPicPr preferRelativeResize="0"/>
          <p:nvPr/>
        </p:nvPicPr>
        <p:blipFill rotWithShape="1">
          <a:blip r:embed="rId6">
            <a:alphaModFix/>
          </a:blip>
          <a:srcRect b="0" l="0" r="0" t="0"/>
          <a:stretch/>
        </p:blipFill>
        <p:spPr>
          <a:xfrm>
            <a:off x="6270498" y="2366010"/>
            <a:ext cx="251460" cy="251460"/>
          </a:xfrm>
          <a:prstGeom prst="rect">
            <a:avLst/>
          </a:prstGeom>
          <a:noFill/>
          <a:ln>
            <a:noFill/>
          </a:ln>
        </p:spPr>
      </p:pic>
      <p:sp>
        <p:nvSpPr>
          <p:cNvPr id="62" name="Google Shape;62;p2"/>
          <p:cNvSpPr txBox="1"/>
          <p:nvPr/>
        </p:nvSpPr>
        <p:spPr>
          <a:xfrm>
            <a:off x="6766560" y="2148840"/>
            <a:ext cx="18745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Delivery partners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Pickup and address list</a:t>
            </a:r>
            <a:endParaRPr b="0" i="0" sz="1500" u="none" cap="none" strike="noStrike">
              <a:solidFill>
                <a:schemeClr val="dk1"/>
              </a:solidFill>
              <a:latin typeface="Calibri"/>
              <a:ea typeface="Calibri"/>
              <a:cs typeface="Calibri"/>
              <a:sym typeface="Calibri"/>
            </a:endParaRPr>
          </a:p>
        </p:txBody>
      </p:sp>
      <p:sp>
        <p:nvSpPr>
          <p:cNvPr id="63" name="Google Shape;63;p2"/>
          <p:cNvSpPr/>
          <p:nvPr/>
        </p:nvSpPr>
        <p:spPr>
          <a:xfrm>
            <a:off x="457200" y="2926080"/>
            <a:ext cx="2651760" cy="685800"/>
          </a:xfrm>
          <a:prstGeom prst="roundRect">
            <a:avLst>
              <a:gd fmla="val 16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566928" y="3017520"/>
            <a:ext cx="502920" cy="50292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2"/>
          <p:cNvPicPr preferRelativeResize="0"/>
          <p:nvPr/>
        </p:nvPicPr>
        <p:blipFill rotWithShape="1">
          <a:blip r:embed="rId7">
            <a:alphaModFix/>
          </a:blip>
          <a:srcRect b="0" l="0" r="0" t="0"/>
          <a:stretch/>
        </p:blipFill>
        <p:spPr>
          <a:xfrm>
            <a:off x="692658" y="3143250"/>
            <a:ext cx="251460" cy="251460"/>
          </a:xfrm>
          <a:prstGeom prst="rect">
            <a:avLst/>
          </a:prstGeom>
          <a:noFill/>
          <a:ln>
            <a:noFill/>
          </a:ln>
        </p:spPr>
      </p:pic>
      <p:sp>
        <p:nvSpPr>
          <p:cNvPr id="66" name="Google Shape;66;p2"/>
          <p:cNvSpPr txBox="1"/>
          <p:nvPr/>
        </p:nvSpPr>
        <p:spPr>
          <a:xfrm>
            <a:off x="1188720" y="2926080"/>
            <a:ext cx="18745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Marketplaces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XML</a:t>
            </a:r>
            <a:endParaRPr b="0" i="0" sz="1500" u="none" cap="none" strike="noStrike">
              <a:solidFill>
                <a:schemeClr val="dk1"/>
              </a:solidFill>
              <a:latin typeface="Calibri"/>
              <a:ea typeface="Calibri"/>
              <a:cs typeface="Calibri"/>
              <a:sym typeface="Calibri"/>
            </a:endParaRPr>
          </a:p>
        </p:txBody>
      </p:sp>
      <p:sp>
        <p:nvSpPr>
          <p:cNvPr id="67" name="Google Shape;67;p2"/>
          <p:cNvSpPr/>
          <p:nvPr/>
        </p:nvSpPr>
        <p:spPr>
          <a:xfrm>
            <a:off x="6035040" y="2926080"/>
            <a:ext cx="2651760" cy="685800"/>
          </a:xfrm>
          <a:prstGeom prst="roundRect">
            <a:avLst>
              <a:gd fmla="val 16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6144768" y="3017520"/>
            <a:ext cx="502920" cy="502920"/>
          </a:xfrm>
          <a:prstGeom prst="ellipse">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 name="Google Shape;69;p2"/>
          <p:cNvPicPr preferRelativeResize="0"/>
          <p:nvPr/>
        </p:nvPicPr>
        <p:blipFill rotWithShape="1">
          <a:blip r:embed="rId8">
            <a:alphaModFix/>
          </a:blip>
          <a:srcRect b="0" l="0" r="0" t="0"/>
          <a:stretch/>
        </p:blipFill>
        <p:spPr>
          <a:xfrm>
            <a:off x="6270498" y="3143250"/>
            <a:ext cx="251460" cy="251460"/>
          </a:xfrm>
          <a:prstGeom prst="rect">
            <a:avLst/>
          </a:prstGeom>
          <a:noFill/>
          <a:ln>
            <a:noFill/>
          </a:ln>
        </p:spPr>
      </p:pic>
      <p:sp>
        <p:nvSpPr>
          <p:cNvPr id="70" name="Google Shape;70;p2"/>
          <p:cNvSpPr txBox="1"/>
          <p:nvPr/>
        </p:nvSpPr>
        <p:spPr>
          <a:xfrm>
            <a:off x="6766560" y="2926080"/>
            <a:ext cx="18745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Finance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Invoices and payments</a:t>
            </a:r>
            <a:endParaRPr b="0" i="0" sz="1500" u="none" cap="none" strike="noStrike">
              <a:solidFill>
                <a:schemeClr val="dk1"/>
              </a:solidFill>
              <a:latin typeface="Calibri"/>
              <a:ea typeface="Calibri"/>
              <a:cs typeface="Calibri"/>
              <a:sym typeface="Calibri"/>
            </a:endParaRPr>
          </a:p>
        </p:txBody>
      </p:sp>
      <p:sp>
        <p:nvSpPr>
          <p:cNvPr id="71" name="Google Shape;71;p2"/>
          <p:cNvSpPr/>
          <p:nvPr/>
        </p:nvSpPr>
        <p:spPr>
          <a:xfrm>
            <a:off x="457200" y="3703320"/>
            <a:ext cx="2651760" cy="685800"/>
          </a:xfrm>
          <a:prstGeom prst="roundRect">
            <a:avLst>
              <a:gd fmla="val 16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566928" y="3794760"/>
            <a:ext cx="502920" cy="50292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 name="Google Shape;73;p2"/>
          <p:cNvPicPr preferRelativeResize="0"/>
          <p:nvPr/>
        </p:nvPicPr>
        <p:blipFill rotWithShape="1">
          <a:blip r:embed="rId9">
            <a:alphaModFix/>
          </a:blip>
          <a:srcRect b="0" l="0" r="0" t="0"/>
          <a:stretch/>
        </p:blipFill>
        <p:spPr>
          <a:xfrm>
            <a:off x="692658" y="3920490"/>
            <a:ext cx="251460" cy="251460"/>
          </a:xfrm>
          <a:prstGeom prst="rect">
            <a:avLst/>
          </a:prstGeom>
          <a:noFill/>
          <a:ln>
            <a:noFill/>
          </a:ln>
        </p:spPr>
      </p:pic>
      <p:sp>
        <p:nvSpPr>
          <p:cNvPr id="74" name="Google Shape;74;p2"/>
          <p:cNvSpPr txBox="1"/>
          <p:nvPr/>
        </p:nvSpPr>
        <p:spPr>
          <a:xfrm>
            <a:off x="1188720" y="3703320"/>
            <a:ext cx="18745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B2B partners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CSV / Excel</a:t>
            </a:r>
            <a:endParaRPr b="0" i="0" sz="1500" u="none" cap="none" strike="noStrike">
              <a:solidFill>
                <a:schemeClr val="dk1"/>
              </a:solidFill>
              <a:latin typeface="Calibri"/>
              <a:ea typeface="Calibri"/>
              <a:cs typeface="Calibri"/>
              <a:sym typeface="Calibri"/>
            </a:endParaRPr>
          </a:p>
        </p:txBody>
      </p:sp>
      <p:sp>
        <p:nvSpPr>
          <p:cNvPr id="75" name="Google Shape;75;p2"/>
          <p:cNvSpPr/>
          <p:nvPr/>
        </p:nvSpPr>
        <p:spPr>
          <a:xfrm>
            <a:off x="6035040" y="3703320"/>
            <a:ext cx="2651760" cy="685800"/>
          </a:xfrm>
          <a:prstGeom prst="roundRect">
            <a:avLst>
              <a:gd fmla="val 16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6144768" y="3794760"/>
            <a:ext cx="502920" cy="502920"/>
          </a:xfrm>
          <a:prstGeom prst="ellipse">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 name="Google Shape;77;p2"/>
          <p:cNvPicPr preferRelativeResize="0"/>
          <p:nvPr/>
        </p:nvPicPr>
        <p:blipFill rotWithShape="1">
          <a:blip r:embed="rId10">
            <a:alphaModFix/>
          </a:blip>
          <a:srcRect b="0" l="0" r="0" t="0"/>
          <a:stretch/>
        </p:blipFill>
        <p:spPr>
          <a:xfrm>
            <a:off x="6270498" y="3920490"/>
            <a:ext cx="251460" cy="251460"/>
          </a:xfrm>
          <a:prstGeom prst="rect">
            <a:avLst/>
          </a:prstGeom>
          <a:noFill/>
          <a:ln>
            <a:noFill/>
          </a:ln>
        </p:spPr>
      </p:pic>
      <p:sp>
        <p:nvSpPr>
          <p:cNvPr id="78" name="Google Shape;78;p2"/>
          <p:cNvSpPr txBox="1"/>
          <p:nvPr/>
        </p:nvSpPr>
        <p:spPr>
          <a:xfrm>
            <a:off x="6766560" y="3703320"/>
            <a:ext cx="18745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Analytics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Daily sales summary</a:t>
            </a:r>
            <a:endParaRPr b="0" i="0" sz="1500" u="none" cap="none" strike="noStrike">
              <a:solidFill>
                <a:schemeClr val="dk1"/>
              </a:solidFill>
              <a:latin typeface="Calibri"/>
              <a:ea typeface="Calibri"/>
              <a:cs typeface="Calibri"/>
              <a:sym typeface="Calibri"/>
            </a:endParaRPr>
          </a:p>
        </p:txBody>
      </p:sp>
      <p:cxnSp>
        <p:nvCxnSpPr>
          <p:cNvPr id="79" name="Google Shape;79;p2"/>
          <p:cNvCxnSpPr/>
          <p:nvPr/>
        </p:nvCxnSpPr>
        <p:spPr>
          <a:xfrm>
            <a:off x="3154680" y="2834640"/>
            <a:ext cx="548640" cy="0"/>
          </a:xfrm>
          <a:prstGeom prst="straightConnector1">
            <a:avLst/>
          </a:prstGeom>
          <a:noFill/>
          <a:ln cap="flat" cmpd="sng" w="25400">
            <a:solidFill>
              <a:schemeClr val="accent1"/>
            </a:solidFill>
            <a:prstDash val="solid"/>
            <a:round/>
            <a:headEnd len="sm" w="sm" type="none"/>
            <a:tailEnd len="med" w="med" type="triangle"/>
          </a:ln>
        </p:spPr>
      </p:cxnSp>
      <p:cxnSp>
        <p:nvCxnSpPr>
          <p:cNvPr id="80" name="Google Shape;80;p2"/>
          <p:cNvCxnSpPr/>
          <p:nvPr/>
        </p:nvCxnSpPr>
        <p:spPr>
          <a:xfrm>
            <a:off x="5440680" y="2834640"/>
            <a:ext cx="548640" cy="0"/>
          </a:xfrm>
          <a:prstGeom prst="straightConnector1">
            <a:avLst/>
          </a:prstGeom>
          <a:noFill/>
          <a:ln cap="flat" cmpd="sng" w="25400">
            <a:solidFill>
              <a:schemeClr val="accent1"/>
            </a:solidFill>
            <a:prstDash val="solid"/>
            <a:round/>
            <a:headEnd len="sm" w="sm" type="none"/>
            <a:tailEnd len="med" w="med" type="triangle"/>
          </a:ln>
        </p:spPr>
      </p:cxnSp>
      <p:sp>
        <p:nvSpPr>
          <p:cNvPr id="81" name="Google Shape;81;p2"/>
          <p:cNvSpPr/>
          <p:nvPr/>
        </p:nvSpPr>
        <p:spPr>
          <a:xfrm>
            <a:off x="3749040" y="2011680"/>
            <a:ext cx="1645920" cy="1645920"/>
          </a:xfrm>
          <a:prstGeom prst="ellipse">
            <a:avLst/>
          </a:prstGeom>
          <a:solidFill>
            <a:schemeClr val="accent1"/>
          </a:solidFill>
          <a:ln>
            <a:noFill/>
          </a:ln>
        </p:spPr>
        <p:txBody>
          <a:bodyPr anchorCtr="0" anchor="ctr" bIns="1250" lIns="1250" spcFirstLastPara="1" rIns="1250" wrap="square" tIns="1250">
            <a:noAutofit/>
          </a:bodyPr>
          <a:lstStyle/>
          <a:p>
            <a:pPr indent="0" lvl="0" marL="0" marR="0" rtl="0" algn="ctr">
              <a:spcBef>
                <a:spcPts val="0"/>
              </a:spcBef>
              <a:spcAft>
                <a:spcPts val="0"/>
              </a:spcAft>
              <a:buClr>
                <a:schemeClr val="lt1"/>
              </a:buClr>
              <a:buSzPts val="2200"/>
              <a:buFont typeface="Calibri"/>
              <a:buNone/>
            </a:pPr>
            <a:r>
              <a:rPr b="1" i="0" lang="en-US" sz="2200" u="none" cap="none" strike="noStrike">
                <a:solidFill>
                  <a:schemeClr val="lt1"/>
                </a:solidFill>
                <a:latin typeface="Calibri"/>
                <a:ea typeface="Calibri"/>
                <a:cs typeface="Calibri"/>
                <a:sym typeface="Calibri"/>
              </a:rPr>
              <a:t>IDMC</a:t>
            </a:r>
            <a:endParaRPr b="0" i="0" sz="2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Standardise and route</a:t>
            </a:r>
            <a:endParaRPr b="0" i="0" sz="2200" u="none" cap="none" strike="noStrike">
              <a:solidFill>
                <a:schemeClr val="dk1"/>
              </a:solidFill>
              <a:latin typeface="Calibri"/>
              <a:ea typeface="Calibri"/>
              <a:cs typeface="Calibri"/>
              <a:sym typeface="Calibri"/>
            </a:endParaRPr>
          </a:p>
        </p:txBody>
      </p:sp>
      <p:sp>
        <p:nvSpPr>
          <p:cNvPr id="82" name="Google Shape;82;p2"/>
          <p:cNvSpPr txBox="1"/>
          <p:nvPr>
            <p:ph idx="4294967295"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A99"/>
                </a:solidFill>
                <a:latin typeface="Calibri"/>
                <a:ea typeface="Calibri"/>
                <a:cs typeface="Calibri"/>
                <a:sym typeface="Calibri"/>
              </a:rPr>
              <a:t>‹#›</a:t>
            </a:fld>
            <a:endParaRPr b="0" i="0" sz="1000" u="none" cap="none" strike="noStrike">
              <a:solidFill>
                <a:srgbClr val="6B7A99"/>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3"/>
          <p:cNvSpPr txBox="1"/>
          <p:nvPr>
            <p:ph type="title"/>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Cambria"/>
              <a:buNone/>
            </a:pPr>
            <a:r>
              <a:rPr b="1" lang="en-US" sz="3000">
                <a:solidFill>
                  <a:schemeClr val="dk2"/>
                </a:solidFill>
              </a:rPr>
              <a:t>The challenge: one order, many formats</a:t>
            </a:r>
            <a:endParaRPr sz="3000"/>
          </a:p>
        </p:txBody>
      </p:sp>
      <p:graphicFrame>
        <p:nvGraphicFramePr>
          <p:cNvPr id="89" name="Google Shape;89;p3"/>
          <p:cNvGraphicFramePr/>
          <p:nvPr/>
        </p:nvGraphicFramePr>
        <p:xfrm>
          <a:off x="457200" y="1234440"/>
          <a:ext cx="3000000" cy="3000000"/>
        </p:xfrm>
        <a:graphic>
          <a:graphicData uri="http://schemas.openxmlformats.org/drawingml/2006/table">
            <a:tbl>
              <a:tblPr>
                <a:noFill/>
                <a:tableStyleId>{7B4C4156-9DD3-413D-AA7B-02A0B7223C47}</a:tableStyleId>
              </a:tblPr>
              <a:tblGrid>
                <a:gridCol w="1645925"/>
                <a:gridCol w="1188725"/>
                <a:gridCol w="1554475"/>
                <a:gridCol w="2011675"/>
                <a:gridCol w="1828800"/>
              </a:tblGrid>
              <a:tr h="457200">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Source</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14213D"/>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Format</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14213D"/>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Order ID</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14213D"/>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Date </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14213D"/>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Price field</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14213D"/>
                    </a:solidFill>
                  </a:tcPr>
                </a:tc>
              </a:tr>
              <a:tr h="457200">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Website</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JSON</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orderId</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2026-10-23</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totalAmount</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r>
              <a:tr h="457200">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Mobile app</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JSON</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order_ref</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1698056100</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amt</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r>
              <a:tr h="457200">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Marketplace</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XML</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&lt;OrderID&gt;</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23/10/2026</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&lt;Total&gt;</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r>
              <a:tr h="457200">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B2B partner</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CSV</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order_no</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10-23-26</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price</a:t>
                      </a:r>
                      <a:endParaRPr sz="1400" u="none" cap="none" strike="noStrike">
                        <a:latin typeface="Calibri"/>
                        <a:ea typeface="Calibri"/>
                        <a:cs typeface="Calibri"/>
                        <a:sym typeface="Calibri"/>
                      </a:endParaRPr>
                    </a:p>
                  </a:txBody>
                  <a:tcPr marT="0" marB="0" marR="91450" marL="91450"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r>
            </a:tbl>
          </a:graphicData>
        </a:graphic>
      </p:graphicFrame>
      <p:sp>
        <p:nvSpPr>
          <p:cNvPr id="90" name="Google Shape;90;p3"/>
          <p:cNvSpPr/>
          <p:nvPr/>
        </p:nvSpPr>
        <p:spPr>
          <a:xfrm>
            <a:off x="457200" y="3794760"/>
            <a:ext cx="8229600" cy="777240"/>
          </a:xfrm>
          <a:prstGeom prst="roundRect">
            <a:avLst>
              <a:gd fmla="val 11765" name="adj"/>
            </a:avLst>
          </a:prstGeom>
          <a:solidFill>
            <a:schemeClr val="accent1"/>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Downstream teams need ONE clean, standard order record, so every format must be mapped and transformed</a:t>
            </a:r>
            <a:endParaRPr b="0" i="0" sz="1600" u="none" cap="none" strike="noStrike">
              <a:solidFill>
                <a:schemeClr val="dk1"/>
              </a:solidFill>
              <a:latin typeface="Calibri"/>
              <a:ea typeface="Calibri"/>
              <a:cs typeface="Calibri"/>
              <a:sym typeface="Calibri"/>
            </a:endParaRPr>
          </a:p>
        </p:txBody>
      </p:sp>
      <p:sp>
        <p:nvSpPr>
          <p:cNvPr id="91" name="Google Shape;91;p3"/>
          <p:cNvSpPr txBox="1"/>
          <p:nvPr>
            <p:ph idx="4294967295"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A99"/>
                </a:solidFill>
                <a:latin typeface="Calibri"/>
                <a:ea typeface="Calibri"/>
                <a:cs typeface="Calibri"/>
                <a:sym typeface="Calibri"/>
              </a:rPr>
              <a:t>‹#›</a:t>
            </a:fld>
            <a:endParaRPr b="0" i="0" sz="1000" u="none" cap="none" strike="noStrike">
              <a:solidFill>
                <a:srgbClr val="6B7A99"/>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4"/>
          <p:cNvSpPr txBox="1"/>
          <p:nvPr/>
        </p:nvSpPr>
        <p:spPr>
          <a:xfrm>
            <a:off x="548640" y="1417320"/>
            <a:ext cx="2743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Calibri"/>
              <a:buNone/>
            </a:pPr>
            <a:r>
              <a:rPr b="1" i="0" lang="en-US" sz="1600" u="none" cap="none" strike="noStrike">
                <a:solidFill>
                  <a:schemeClr val="accent1"/>
                </a:solidFill>
                <a:latin typeface="Calibri"/>
                <a:ea typeface="Calibri"/>
                <a:cs typeface="Calibri"/>
                <a:sym typeface="Calibri"/>
              </a:rPr>
              <a:t>PART 1</a:t>
            </a:r>
            <a:endParaRPr b="0" i="0" sz="1600" u="none" cap="none" strike="noStrike">
              <a:solidFill>
                <a:schemeClr val="dk1"/>
              </a:solidFill>
              <a:latin typeface="Calibri"/>
              <a:ea typeface="Calibri"/>
              <a:cs typeface="Calibri"/>
              <a:sym typeface="Calibri"/>
            </a:endParaRPr>
          </a:p>
        </p:txBody>
      </p:sp>
      <p:sp>
        <p:nvSpPr>
          <p:cNvPr id="98" name="Google Shape;98;p4"/>
          <p:cNvSpPr txBox="1"/>
          <p:nvPr>
            <p:ph type="title"/>
          </p:nvPr>
        </p:nvSpPr>
        <p:spPr>
          <a:xfrm>
            <a:off x="548640" y="1828800"/>
            <a:ext cx="5394960" cy="10972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800"/>
              <a:buFont typeface="Cambria"/>
              <a:buNone/>
            </a:pPr>
            <a:r>
              <a:rPr b="1" lang="en-US" sz="3800">
                <a:solidFill>
                  <a:schemeClr val="lt1"/>
                </a:solidFill>
              </a:rPr>
              <a:t>Manual mapping process</a:t>
            </a:r>
            <a:endParaRPr sz="3800"/>
          </a:p>
        </p:txBody>
      </p:sp>
      <p:sp>
        <p:nvSpPr>
          <p:cNvPr id="99" name="Google Shape;99;p4"/>
          <p:cNvSpPr txBox="1"/>
          <p:nvPr>
            <p:ph idx="1" type="body"/>
          </p:nvPr>
        </p:nvSpPr>
        <p:spPr>
          <a:xfrm>
            <a:off x="548640" y="3017520"/>
            <a:ext cx="512064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US" sz="1600">
                <a:solidFill>
                  <a:schemeClr val="lt2"/>
                </a:solidFill>
              </a:rPr>
              <a:t>Building and running every mapping by hand</a:t>
            </a:r>
            <a:endParaRPr sz="1600"/>
          </a:p>
        </p:txBody>
      </p:sp>
      <p:sp>
        <p:nvSpPr>
          <p:cNvPr id="100" name="Google Shape;100;p4"/>
          <p:cNvSpPr/>
          <p:nvPr/>
        </p:nvSpPr>
        <p:spPr>
          <a:xfrm>
            <a:off x="6400800" y="1554480"/>
            <a:ext cx="2011680" cy="201168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1" name="Google Shape;101;p4"/>
          <p:cNvPicPr preferRelativeResize="0"/>
          <p:nvPr/>
        </p:nvPicPr>
        <p:blipFill rotWithShape="1">
          <a:blip r:embed="rId3">
            <a:alphaModFix/>
          </a:blip>
          <a:srcRect b="0" l="0" r="0" t="0"/>
          <a:stretch/>
        </p:blipFill>
        <p:spPr>
          <a:xfrm>
            <a:off x="6903720" y="2057400"/>
            <a:ext cx="1005840" cy="10058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type="title"/>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Cambria"/>
              <a:buNone/>
            </a:pPr>
            <a:r>
              <a:rPr b="1" lang="en-US" sz="3000">
                <a:solidFill>
                  <a:schemeClr val="dk2"/>
                </a:solidFill>
              </a:rPr>
              <a:t>Manual process: six steps</a:t>
            </a:r>
            <a:endParaRPr sz="3000"/>
          </a:p>
        </p:txBody>
      </p:sp>
      <p:sp>
        <p:nvSpPr>
          <p:cNvPr id="108" name="Google Shape;108;p5"/>
          <p:cNvSpPr/>
          <p:nvPr/>
        </p:nvSpPr>
        <p:spPr>
          <a:xfrm>
            <a:off x="457200" y="1234440"/>
            <a:ext cx="2560320" cy="1554480"/>
          </a:xfrm>
          <a:prstGeom prst="roundRect">
            <a:avLst>
              <a:gd fmla="val 705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594360" y="1371600"/>
            <a:ext cx="411480" cy="41148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110" name="Google Shape;110;p5"/>
          <p:cNvSpPr txBox="1"/>
          <p:nvPr/>
        </p:nvSpPr>
        <p:spPr>
          <a:xfrm>
            <a:off x="1097280" y="1371600"/>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Study each source</a:t>
            </a:r>
            <a:endParaRPr b="0" i="0" sz="1500" u="none" cap="none" strike="noStrike">
              <a:solidFill>
                <a:schemeClr val="dk1"/>
              </a:solidFill>
              <a:latin typeface="Calibri"/>
              <a:ea typeface="Calibri"/>
              <a:cs typeface="Calibri"/>
              <a:sym typeface="Calibri"/>
            </a:endParaRPr>
          </a:p>
        </p:txBody>
      </p:sp>
      <p:sp>
        <p:nvSpPr>
          <p:cNvPr id="111" name="Google Shape;111;p5"/>
          <p:cNvSpPr txBox="1"/>
          <p:nvPr/>
        </p:nvSpPr>
        <p:spPr>
          <a:xfrm>
            <a:off x="594360" y="1874520"/>
            <a:ext cx="22860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Read JSON, XML and CSV layouts and note the field differences</a:t>
            </a:r>
            <a:endParaRPr b="0" i="0" sz="1400" u="none" cap="none" strike="noStrike">
              <a:solidFill>
                <a:schemeClr val="dk1"/>
              </a:solidFill>
              <a:latin typeface="Calibri"/>
              <a:ea typeface="Calibri"/>
              <a:cs typeface="Calibri"/>
              <a:sym typeface="Calibri"/>
            </a:endParaRPr>
          </a:p>
        </p:txBody>
      </p:sp>
      <p:sp>
        <p:nvSpPr>
          <p:cNvPr id="112" name="Google Shape;112;p5"/>
          <p:cNvSpPr/>
          <p:nvPr/>
        </p:nvSpPr>
        <p:spPr>
          <a:xfrm>
            <a:off x="3291840" y="1234440"/>
            <a:ext cx="2560320" cy="1554480"/>
          </a:xfrm>
          <a:prstGeom prst="roundRect">
            <a:avLst>
              <a:gd fmla="val 705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3429000" y="1371600"/>
            <a:ext cx="411480" cy="41148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114" name="Google Shape;114;p5"/>
          <p:cNvSpPr txBox="1"/>
          <p:nvPr/>
        </p:nvSpPr>
        <p:spPr>
          <a:xfrm>
            <a:off x="3931920" y="1371600"/>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Create connections</a:t>
            </a:r>
            <a:endParaRPr b="0" i="0" sz="1500" u="none" cap="none" strike="noStrike">
              <a:solidFill>
                <a:schemeClr val="dk1"/>
              </a:solidFill>
              <a:latin typeface="Calibri"/>
              <a:ea typeface="Calibri"/>
              <a:cs typeface="Calibri"/>
              <a:sym typeface="Calibri"/>
            </a:endParaRPr>
          </a:p>
        </p:txBody>
      </p:sp>
      <p:sp>
        <p:nvSpPr>
          <p:cNvPr id="115" name="Google Shape;115;p5"/>
          <p:cNvSpPr txBox="1"/>
          <p:nvPr/>
        </p:nvSpPr>
        <p:spPr>
          <a:xfrm>
            <a:off x="3429000" y="1874520"/>
            <a:ext cx="22860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Set up source and target connections for every system</a:t>
            </a:r>
            <a:endParaRPr b="0" i="0" sz="1400" u="none" cap="none" strike="noStrike">
              <a:solidFill>
                <a:schemeClr val="dk1"/>
              </a:solidFill>
              <a:latin typeface="Calibri"/>
              <a:ea typeface="Calibri"/>
              <a:cs typeface="Calibri"/>
              <a:sym typeface="Calibri"/>
            </a:endParaRPr>
          </a:p>
        </p:txBody>
      </p:sp>
      <p:sp>
        <p:nvSpPr>
          <p:cNvPr id="116" name="Google Shape;116;p5"/>
          <p:cNvSpPr/>
          <p:nvPr/>
        </p:nvSpPr>
        <p:spPr>
          <a:xfrm>
            <a:off x="6126480" y="1234440"/>
            <a:ext cx="2560320" cy="1554480"/>
          </a:xfrm>
          <a:prstGeom prst="roundRect">
            <a:avLst>
              <a:gd fmla="val 705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6263640" y="1371600"/>
            <a:ext cx="411480" cy="41148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18" name="Google Shape;118;p5"/>
          <p:cNvSpPr txBox="1"/>
          <p:nvPr/>
        </p:nvSpPr>
        <p:spPr>
          <a:xfrm>
            <a:off x="6766560" y="1371600"/>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Map each source</a:t>
            </a:r>
            <a:endParaRPr b="0" i="0" sz="1500" u="none" cap="none" strike="noStrike">
              <a:solidFill>
                <a:schemeClr val="dk1"/>
              </a:solidFill>
              <a:latin typeface="Calibri"/>
              <a:ea typeface="Calibri"/>
              <a:cs typeface="Calibri"/>
              <a:sym typeface="Calibri"/>
            </a:endParaRPr>
          </a:p>
        </p:txBody>
      </p:sp>
      <p:sp>
        <p:nvSpPr>
          <p:cNvPr id="119" name="Google Shape;119;p5"/>
          <p:cNvSpPr txBox="1"/>
          <p:nvPr/>
        </p:nvSpPr>
        <p:spPr>
          <a:xfrm>
            <a:off x="6263640" y="1874520"/>
            <a:ext cx="22860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One mapping per format: rename fields, clean dates, trim</a:t>
            </a:r>
            <a:endParaRPr b="0" i="0" sz="1400" u="none" cap="none" strike="noStrike">
              <a:solidFill>
                <a:schemeClr val="dk1"/>
              </a:solidFill>
              <a:latin typeface="Calibri"/>
              <a:ea typeface="Calibri"/>
              <a:cs typeface="Calibri"/>
              <a:sym typeface="Calibri"/>
            </a:endParaRPr>
          </a:p>
        </p:txBody>
      </p:sp>
      <p:sp>
        <p:nvSpPr>
          <p:cNvPr id="120" name="Google Shape;120;p5"/>
          <p:cNvSpPr/>
          <p:nvPr/>
        </p:nvSpPr>
        <p:spPr>
          <a:xfrm>
            <a:off x="457200" y="2926080"/>
            <a:ext cx="2560320" cy="1554480"/>
          </a:xfrm>
          <a:prstGeom prst="roundRect">
            <a:avLst>
              <a:gd fmla="val 705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594360" y="3063240"/>
            <a:ext cx="411480" cy="41148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122" name="Google Shape;122;p5"/>
          <p:cNvSpPr txBox="1"/>
          <p:nvPr/>
        </p:nvSpPr>
        <p:spPr>
          <a:xfrm>
            <a:off x="1097280" y="3063240"/>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Merge into one order</a:t>
            </a:r>
            <a:endParaRPr b="0" i="0" sz="1500" u="none" cap="none" strike="noStrike">
              <a:solidFill>
                <a:schemeClr val="dk1"/>
              </a:solidFill>
              <a:latin typeface="Calibri"/>
              <a:ea typeface="Calibri"/>
              <a:cs typeface="Calibri"/>
              <a:sym typeface="Calibri"/>
            </a:endParaRPr>
          </a:p>
        </p:txBody>
      </p:sp>
      <p:sp>
        <p:nvSpPr>
          <p:cNvPr id="123" name="Google Shape;123;p5"/>
          <p:cNvSpPr txBox="1"/>
          <p:nvPr/>
        </p:nvSpPr>
        <p:spPr>
          <a:xfrm>
            <a:off x="594360" y="3566160"/>
            <a:ext cx="22860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Union, look up customers and products, filter bad records</a:t>
            </a:r>
            <a:endParaRPr b="0" i="0" sz="1400" u="none" cap="none" strike="noStrike">
              <a:solidFill>
                <a:schemeClr val="dk1"/>
              </a:solidFill>
              <a:latin typeface="Calibri"/>
              <a:ea typeface="Calibri"/>
              <a:cs typeface="Calibri"/>
              <a:sym typeface="Calibri"/>
            </a:endParaRPr>
          </a:p>
        </p:txBody>
      </p:sp>
      <p:sp>
        <p:nvSpPr>
          <p:cNvPr id="124" name="Google Shape;124;p5"/>
          <p:cNvSpPr/>
          <p:nvPr/>
        </p:nvSpPr>
        <p:spPr>
          <a:xfrm>
            <a:off x="3291840" y="2926080"/>
            <a:ext cx="2560320" cy="1554480"/>
          </a:xfrm>
          <a:prstGeom prst="roundRect">
            <a:avLst>
              <a:gd fmla="val 705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3429000" y="3063240"/>
            <a:ext cx="411480" cy="41148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126" name="Google Shape;126;p5"/>
          <p:cNvSpPr txBox="1"/>
          <p:nvPr/>
        </p:nvSpPr>
        <p:spPr>
          <a:xfrm>
            <a:off x="3931920" y="3063240"/>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Build output mappings</a:t>
            </a:r>
            <a:endParaRPr b="0" i="0" sz="1500" u="none" cap="none" strike="noStrike">
              <a:solidFill>
                <a:schemeClr val="dk1"/>
              </a:solidFill>
              <a:latin typeface="Calibri"/>
              <a:ea typeface="Calibri"/>
              <a:cs typeface="Calibri"/>
              <a:sym typeface="Calibri"/>
            </a:endParaRPr>
          </a:p>
        </p:txBody>
      </p:sp>
      <p:sp>
        <p:nvSpPr>
          <p:cNvPr id="127" name="Google Shape;127;p5"/>
          <p:cNvSpPr txBox="1"/>
          <p:nvPr/>
        </p:nvSpPr>
        <p:spPr>
          <a:xfrm>
            <a:off x="3429000" y="3566160"/>
            <a:ext cx="22860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Seller feed, delivery feed and sales summary</a:t>
            </a:r>
            <a:endParaRPr b="0" i="0" sz="1400" u="none" cap="none" strike="noStrike">
              <a:solidFill>
                <a:schemeClr val="dk1"/>
              </a:solidFill>
              <a:latin typeface="Calibri"/>
              <a:ea typeface="Calibri"/>
              <a:cs typeface="Calibri"/>
              <a:sym typeface="Calibri"/>
            </a:endParaRPr>
          </a:p>
        </p:txBody>
      </p:sp>
      <p:sp>
        <p:nvSpPr>
          <p:cNvPr id="128" name="Google Shape;128;p5"/>
          <p:cNvSpPr/>
          <p:nvPr/>
        </p:nvSpPr>
        <p:spPr>
          <a:xfrm>
            <a:off x="6126480" y="2926080"/>
            <a:ext cx="2560320" cy="1554480"/>
          </a:xfrm>
          <a:prstGeom prst="roundRect">
            <a:avLst>
              <a:gd fmla="val 705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6263640" y="3063240"/>
            <a:ext cx="411480" cy="41148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130" name="Google Shape;130;p5"/>
          <p:cNvSpPr txBox="1"/>
          <p:nvPr/>
        </p:nvSpPr>
        <p:spPr>
          <a:xfrm>
            <a:off x="6766560" y="3063240"/>
            <a:ext cx="18288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Run one by one</a:t>
            </a:r>
            <a:endParaRPr b="0" i="0" sz="1500" u="none" cap="none" strike="noStrike">
              <a:solidFill>
                <a:schemeClr val="dk1"/>
              </a:solidFill>
              <a:latin typeface="Calibri"/>
              <a:ea typeface="Calibri"/>
              <a:cs typeface="Calibri"/>
              <a:sym typeface="Calibri"/>
            </a:endParaRPr>
          </a:p>
        </p:txBody>
      </p:sp>
      <p:sp>
        <p:nvSpPr>
          <p:cNvPr id="131" name="Google Shape;131;p5"/>
          <p:cNvSpPr txBox="1"/>
          <p:nvPr/>
        </p:nvSpPr>
        <p:spPr>
          <a:xfrm>
            <a:off x="6263640" y="3566160"/>
            <a:ext cx="22860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Create a task per mapping, run in order and check the logs</a:t>
            </a:r>
            <a:endParaRPr b="0" i="0" sz="1400" u="none" cap="none" strike="noStrike">
              <a:solidFill>
                <a:schemeClr val="dk1"/>
              </a:solidFill>
              <a:latin typeface="Calibri"/>
              <a:ea typeface="Calibri"/>
              <a:cs typeface="Calibri"/>
              <a:sym typeface="Calibri"/>
            </a:endParaRPr>
          </a:p>
        </p:txBody>
      </p:sp>
      <p:sp>
        <p:nvSpPr>
          <p:cNvPr id="132" name="Google Shape;132;p5"/>
          <p:cNvSpPr txBox="1"/>
          <p:nvPr>
            <p:ph idx="4294967295"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A99"/>
                </a:solidFill>
                <a:latin typeface="Calibri"/>
                <a:ea typeface="Calibri"/>
                <a:cs typeface="Calibri"/>
                <a:sym typeface="Calibri"/>
              </a:rPr>
              <a:t>‹#›</a:t>
            </a:fld>
            <a:endParaRPr b="0" i="0" sz="1000" u="none" cap="none" strike="noStrike">
              <a:solidFill>
                <a:srgbClr val="6B7A99"/>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ph type="title"/>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Cambria"/>
              <a:buNone/>
            </a:pPr>
            <a:r>
              <a:rPr b="1" lang="en-US" sz="3000">
                <a:solidFill>
                  <a:schemeClr val="dk2"/>
                </a:solidFill>
              </a:rPr>
              <a:t>Manual design: seven mappings, seven jobs</a:t>
            </a:r>
            <a:endParaRPr sz="3000"/>
          </a:p>
        </p:txBody>
      </p:sp>
      <p:sp>
        <p:nvSpPr>
          <p:cNvPr id="139" name="Google Shape;139;p6"/>
          <p:cNvSpPr/>
          <p:nvPr/>
        </p:nvSpPr>
        <p:spPr>
          <a:xfrm>
            <a:off x="457200" y="1234440"/>
            <a:ext cx="1463040" cy="777240"/>
          </a:xfrm>
          <a:prstGeom prst="roundRect">
            <a:avLst>
              <a:gd fmla="val 11765" name="adj"/>
            </a:avLst>
          </a:prstGeom>
          <a:solidFill>
            <a:schemeClr val="accent6"/>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Website JSON</a:t>
            </a:r>
            <a:endParaRPr b="0" i="0" sz="1300" u="none" cap="none" strike="noStrike">
              <a:solidFill>
                <a:schemeClr val="dk1"/>
              </a:solidFill>
              <a:latin typeface="Calibri"/>
              <a:ea typeface="Calibri"/>
              <a:cs typeface="Calibri"/>
              <a:sym typeface="Calibri"/>
            </a:endParaRPr>
          </a:p>
        </p:txBody>
      </p:sp>
      <p:cxnSp>
        <p:nvCxnSpPr>
          <p:cNvPr id="140" name="Google Shape;140;p6"/>
          <p:cNvCxnSpPr/>
          <p:nvPr/>
        </p:nvCxnSpPr>
        <p:spPr>
          <a:xfrm>
            <a:off x="1965960" y="1623060"/>
            <a:ext cx="274320" cy="0"/>
          </a:xfrm>
          <a:prstGeom prst="straightConnector1">
            <a:avLst/>
          </a:prstGeom>
          <a:noFill/>
          <a:ln cap="flat" cmpd="sng" w="25400">
            <a:solidFill>
              <a:schemeClr val="accent6"/>
            </a:solidFill>
            <a:prstDash val="solid"/>
            <a:round/>
            <a:headEnd len="sm" w="sm" type="none"/>
            <a:tailEnd len="med" w="med" type="triangle"/>
          </a:ln>
        </p:spPr>
      </p:cxnSp>
      <p:sp>
        <p:nvSpPr>
          <p:cNvPr id="141" name="Google Shape;141;p6"/>
          <p:cNvSpPr/>
          <p:nvPr/>
        </p:nvSpPr>
        <p:spPr>
          <a:xfrm>
            <a:off x="2286000" y="1234440"/>
            <a:ext cx="1737360" cy="777240"/>
          </a:xfrm>
          <a:prstGeom prst="roundRect">
            <a:avLst>
              <a:gd fmla="val 11765"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m_stage_json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rename, clean dates</a:t>
            </a:r>
            <a:endParaRPr b="0" i="0" sz="1300" u="none" cap="none" strike="noStrike">
              <a:solidFill>
                <a:schemeClr val="dk1"/>
              </a:solidFill>
              <a:latin typeface="Calibri"/>
              <a:ea typeface="Calibri"/>
              <a:cs typeface="Calibri"/>
              <a:sym typeface="Calibri"/>
            </a:endParaRPr>
          </a:p>
        </p:txBody>
      </p:sp>
      <p:cxnSp>
        <p:nvCxnSpPr>
          <p:cNvPr id="142" name="Google Shape;142;p6"/>
          <p:cNvCxnSpPr/>
          <p:nvPr/>
        </p:nvCxnSpPr>
        <p:spPr>
          <a:xfrm>
            <a:off x="4069080" y="1623060"/>
            <a:ext cx="274320" cy="0"/>
          </a:xfrm>
          <a:prstGeom prst="straightConnector1">
            <a:avLst/>
          </a:prstGeom>
          <a:noFill/>
          <a:ln cap="flat" cmpd="sng" w="25400">
            <a:solidFill>
              <a:schemeClr val="accent6"/>
            </a:solidFill>
            <a:prstDash val="solid"/>
            <a:round/>
            <a:headEnd len="sm" w="sm" type="none"/>
            <a:tailEnd len="med" w="med" type="triangle"/>
          </a:ln>
        </p:spPr>
      </p:cxnSp>
      <p:cxnSp>
        <p:nvCxnSpPr>
          <p:cNvPr id="143" name="Google Shape;143;p6"/>
          <p:cNvCxnSpPr/>
          <p:nvPr/>
        </p:nvCxnSpPr>
        <p:spPr>
          <a:xfrm>
            <a:off x="6172200" y="1623060"/>
            <a:ext cx="274320" cy="0"/>
          </a:xfrm>
          <a:prstGeom prst="straightConnector1">
            <a:avLst/>
          </a:prstGeom>
          <a:noFill/>
          <a:ln cap="flat" cmpd="sng" w="25400">
            <a:solidFill>
              <a:schemeClr val="accent6"/>
            </a:solidFill>
            <a:prstDash val="solid"/>
            <a:round/>
            <a:headEnd len="sm" w="sm" type="none"/>
            <a:tailEnd len="med" w="med" type="triangle"/>
          </a:ln>
        </p:spPr>
      </p:cxnSp>
      <p:sp>
        <p:nvSpPr>
          <p:cNvPr id="144" name="Google Shape;144;p6"/>
          <p:cNvSpPr/>
          <p:nvPr/>
        </p:nvSpPr>
        <p:spPr>
          <a:xfrm>
            <a:off x="6492240" y="1234440"/>
            <a:ext cx="2194560" cy="777240"/>
          </a:xfrm>
          <a:prstGeom prst="roundRect">
            <a:avLst>
              <a:gd fmla="val 11765" name="adj"/>
            </a:avLst>
          </a:prstGeom>
          <a:solidFill>
            <a:schemeClr val="accent2"/>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m_seller_feed</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file per seller</a:t>
            </a:r>
            <a:endParaRPr b="0" i="0" sz="1300" u="none" cap="none" strike="noStrike">
              <a:solidFill>
                <a:schemeClr val="dk1"/>
              </a:solidFill>
              <a:latin typeface="Calibri"/>
              <a:ea typeface="Calibri"/>
              <a:cs typeface="Calibri"/>
              <a:sym typeface="Calibri"/>
            </a:endParaRPr>
          </a:p>
        </p:txBody>
      </p:sp>
      <p:sp>
        <p:nvSpPr>
          <p:cNvPr id="145" name="Google Shape;145;p6"/>
          <p:cNvSpPr/>
          <p:nvPr/>
        </p:nvSpPr>
        <p:spPr>
          <a:xfrm>
            <a:off x="457200" y="2194560"/>
            <a:ext cx="1463040" cy="777240"/>
          </a:xfrm>
          <a:prstGeom prst="roundRect">
            <a:avLst>
              <a:gd fmla="val 11765" name="adj"/>
            </a:avLst>
          </a:prstGeom>
          <a:solidFill>
            <a:schemeClr val="accent6"/>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Marketplace XML</a:t>
            </a:r>
            <a:endParaRPr b="0" i="0" sz="1300" u="none" cap="none" strike="noStrike">
              <a:solidFill>
                <a:schemeClr val="dk1"/>
              </a:solidFill>
              <a:latin typeface="Calibri"/>
              <a:ea typeface="Calibri"/>
              <a:cs typeface="Calibri"/>
              <a:sym typeface="Calibri"/>
            </a:endParaRPr>
          </a:p>
        </p:txBody>
      </p:sp>
      <p:cxnSp>
        <p:nvCxnSpPr>
          <p:cNvPr id="146" name="Google Shape;146;p6"/>
          <p:cNvCxnSpPr/>
          <p:nvPr/>
        </p:nvCxnSpPr>
        <p:spPr>
          <a:xfrm>
            <a:off x="1965960" y="2583180"/>
            <a:ext cx="274320" cy="0"/>
          </a:xfrm>
          <a:prstGeom prst="straightConnector1">
            <a:avLst/>
          </a:prstGeom>
          <a:noFill/>
          <a:ln cap="flat" cmpd="sng" w="25400">
            <a:solidFill>
              <a:schemeClr val="accent6"/>
            </a:solidFill>
            <a:prstDash val="solid"/>
            <a:round/>
            <a:headEnd len="sm" w="sm" type="none"/>
            <a:tailEnd len="med" w="med" type="triangle"/>
          </a:ln>
        </p:spPr>
      </p:cxnSp>
      <p:sp>
        <p:nvSpPr>
          <p:cNvPr id="147" name="Google Shape;147;p6"/>
          <p:cNvSpPr/>
          <p:nvPr/>
        </p:nvSpPr>
        <p:spPr>
          <a:xfrm>
            <a:off x="2286000" y="2194560"/>
            <a:ext cx="1737360" cy="777240"/>
          </a:xfrm>
          <a:prstGeom prst="roundRect">
            <a:avLst>
              <a:gd fmla="val 11765"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m_stage_xml</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flatten, clean dates</a:t>
            </a:r>
            <a:endParaRPr b="0" i="0" sz="1300" u="none" cap="none" strike="noStrike">
              <a:solidFill>
                <a:schemeClr val="dk1"/>
              </a:solidFill>
              <a:latin typeface="Calibri"/>
              <a:ea typeface="Calibri"/>
              <a:cs typeface="Calibri"/>
              <a:sym typeface="Calibri"/>
            </a:endParaRPr>
          </a:p>
        </p:txBody>
      </p:sp>
      <p:cxnSp>
        <p:nvCxnSpPr>
          <p:cNvPr id="148" name="Google Shape;148;p6"/>
          <p:cNvCxnSpPr/>
          <p:nvPr/>
        </p:nvCxnSpPr>
        <p:spPr>
          <a:xfrm>
            <a:off x="4069080" y="2583180"/>
            <a:ext cx="274320" cy="0"/>
          </a:xfrm>
          <a:prstGeom prst="straightConnector1">
            <a:avLst/>
          </a:prstGeom>
          <a:noFill/>
          <a:ln cap="flat" cmpd="sng" w="25400">
            <a:solidFill>
              <a:schemeClr val="accent6"/>
            </a:solidFill>
            <a:prstDash val="solid"/>
            <a:round/>
            <a:headEnd len="sm" w="sm" type="none"/>
            <a:tailEnd len="med" w="med" type="triangle"/>
          </a:ln>
        </p:spPr>
      </p:cxnSp>
      <p:cxnSp>
        <p:nvCxnSpPr>
          <p:cNvPr id="149" name="Google Shape;149;p6"/>
          <p:cNvCxnSpPr/>
          <p:nvPr/>
        </p:nvCxnSpPr>
        <p:spPr>
          <a:xfrm>
            <a:off x="6172200" y="2583180"/>
            <a:ext cx="274320" cy="0"/>
          </a:xfrm>
          <a:prstGeom prst="straightConnector1">
            <a:avLst/>
          </a:prstGeom>
          <a:noFill/>
          <a:ln cap="flat" cmpd="sng" w="25400">
            <a:solidFill>
              <a:schemeClr val="accent6"/>
            </a:solidFill>
            <a:prstDash val="solid"/>
            <a:round/>
            <a:headEnd len="sm" w="sm" type="none"/>
            <a:tailEnd len="med" w="med" type="triangle"/>
          </a:ln>
        </p:spPr>
      </p:cxnSp>
      <p:sp>
        <p:nvSpPr>
          <p:cNvPr id="150" name="Google Shape;150;p6"/>
          <p:cNvSpPr/>
          <p:nvPr/>
        </p:nvSpPr>
        <p:spPr>
          <a:xfrm>
            <a:off x="6492240" y="2194560"/>
            <a:ext cx="2194560" cy="777240"/>
          </a:xfrm>
          <a:prstGeom prst="roundRect">
            <a:avLst>
              <a:gd fmla="val 11765" name="adj"/>
            </a:avLst>
          </a:prstGeom>
          <a:solidFill>
            <a:schemeClr val="accent2"/>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m_delivery_feed</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pickup list</a:t>
            </a:r>
            <a:endParaRPr b="0" i="0" sz="1300" u="none" cap="none" strike="noStrike">
              <a:solidFill>
                <a:schemeClr val="dk1"/>
              </a:solidFill>
              <a:latin typeface="Calibri"/>
              <a:ea typeface="Calibri"/>
              <a:cs typeface="Calibri"/>
              <a:sym typeface="Calibri"/>
            </a:endParaRPr>
          </a:p>
        </p:txBody>
      </p:sp>
      <p:sp>
        <p:nvSpPr>
          <p:cNvPr id="151" name="Google Shape;151;p6"/>
          <p:cNvSpPr/>
          <p:nvPr/>
        </p:nvSpPr>
        <p:spPr>
          <a:xfrm>
            <a:off x="457200" y="3154680"/>
            <a:ext cx="1463040" cy="777240"/>
          </a:xfrm>
          <a:prstGeom prst="roundRect">
            <a:avLst>
              <a:gd fmla="val 11765" name="adj"/>
            </a:avLst>
          </a:prstGeom>
          <a:solidFill>
            <a:schemeClr val="accent6"/>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B2B CSV</a:t>
            </a:r>
            <a:endParaRPr b="0" i="0" sz="1300" u="none" cap="none" strike="noStrike">
              <a:solidFill>
                <a:schemeClr val="dk1"/>
              </a:solidFill>
              <a:latin typeface="Calibri"/>
              <a:ea typeface="Calibri"/>
              <a:cs typeface="Calibri"/>
              <a:sym typeface="Calibri"/>
            </a:endParaRPr>
          </a:p>
        </p:txBody>
      </p:sp>
      <p:cxnSp>
        <p:nvCxnSpPr>
          <p:cNvPr id="152" name="Google Shape;152;p6"/>
          <p:cNvCxnSpPr/>
          <p:nvPr/>
        </p:nvCxnSpPr>
        <p:spPr>
          <a:xfrm>
            <a:off x="1965960" y="3543300"/>
            <a:ext cx="274320" cy="0"/>
          </a:xfrm>
          <a:prstGeom prst="straightConnector1">
            <a:avLst/>
          </a:prstGeom>
          <a:noFill/>
          <a:ln cap="flat" cmpd="sng" w="25400">
            <a:solidFill>
              <a:schemeClr val="accent6"/>
            </a:solidFill>
            <a:prstDash val="solid"/>
            <a:round/>
            <a:headEnd len="sm" w="sm" type="none"/>
            <a:tailEnd len="med" w="med" type="triangle"/>
          </a:ln>
        </p:spPr>
      </p:cxnSp>
      <p:sp>
        <p:nvSpPr>
          <p:cNvPr id="153" name="Google Shape;153;p6"/>
          <p:cNvSpPr/>
          <p:nvPr/>
        </p:nvSpPr>
        <p:spPr>
          <a:xfrm>
            <a:off x="2286000" y="3154680"/>
            <a:ext cx="1737360" cy="777240"/>
          </a:xfrm>
          <a:prstGeom prst="roundRect">
            <a:avLst>
              <a:gd fmla="val 11765"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m_stage_csv</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trim, convert types</a:t>
            </a:r>
            <a:endParaRPr b="0" i="0" sz="1300" u="none" cap="none" strike="noStrike">
              <a:solidFill>
                <a:schemeClr val="dk1"/>
              </a:solidFill>
              <a:latin typeface="Calibri"/>
              <a:ea typeface="Calibri"/>
              <a:cs typeface="Calibri"/>
              <a:sym typeface="Calibri"/>
            </a:endParaRPr>
          </a:p>
        </p:txBody>
      </p:sp>
      <p:cxnSp>
        <p:nvCxnSpPr>
          <p:cNvPr id="154" name="Google Shape;154;p6"/>
          <p:cNvCxnSpPr/>
          <p:nvPr/>
        </p:nvCxnSpPr>
        <p:spPr>
          <a:xfrm>
            <a:off x="4069080" y="3543300"/>
            <a:ext cx="274320" cy="0"/>
          </a:xfrm>
          <a:prstGeom prst="straightConnector1">
            <a:avLst/>
          </a:prstGeom>
          <a:noFill/>
          <a:ln cap="flat" cmpd="sng" w="25400">
            <a:solidFill>
              <a:schemeClr val="accent6"/>
            </a:solidFill>
            <a:prstDash val="solid"/>
            <a:round/>
            <a:headEnd len="sm" w="sm" type="none"/>
            <a:tailEnd len="med" w="med" type="triangle"/>
          </a:ln>
        </p:spPr>
      </p:cxnSp>
      <p:cxnSp>
        <p:nvCxnSpPr>
          <p:cNvPr id="155" name="Google Shape;155;p6"/>
          <p:cNvCxnSpPr/>
          <p:nvPr/>
        </p:nvCxnSpPr>
        <p:spPr>
          <a:xfrm>
            <a:off x="6172200" y="3543300"/>
            <a:ext cx="274320" cy="0"/>
          </a:xfrm>
          <a:prstGeom prst="straightConnector1">
            <a:avLst/>
          </a:prstGeom>
          <a:noFill/>
          <a:ln cap="flat" cmpd="sng" w="25400">
            <a:solidFill>
              <a:schemeClr val="accent6"/>
            </a:solidFill>
            <a:prstDash val="solid"/>
            <a:round/>
            <a:headEnd len="sm" w="sm" type="none"/>
            <a:tailEnd len="med" w="med" type="triangle"/>
          </a:ln>
        </p:spPr>
      </p:cxnSp>
      <p:sp>
        <p:nvSpPr>
          <p:cNvPr id="156" name="Google Shape;156;p6"/>
          <p:cNvSpPr/>
          <p:nvPr/>
        </p:nvSpPr>
        <p:spPr>
          <a:xfrm>
            <a:off x="6492240" y="3154680"/>
            <a:ext cx="2194560" cy="777240"/>
          </a:xfrm>
          <a:prstGeom prst="roundRect">
            <a:avLst>
              <a:gd fmla="val 11765" name="adj"/>
            </a:avLst>
          </a:prstGeom>
          <a:solidFill>
            <a:schemeClr val="accent2"/>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m_sales_summary</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Aggregator: totals</a:t>
            </a:r>
            <a:endParaRPr b="0" i="0" sz="1300" u="none" cap="none" strike="noStrike">
              <a:solidFill>
                <a:schemeClr val="dk1"/>
              </a:solidFill>
              <a:latin typeface="Calibri"/>
              <a:ea typeface="Calibri"/>
              <a:cs typeface="Calibri"/>
              <a:sym typeface="Calibri"/>
            </a:endParaRPr>
          </a:p>
        </p:txBody>
      </p:sp>
      <p:sp>
        <p:nvSpPr>
          <p:cNvPr id="157" name="Google Shape;157;p6"/>
          <p:cNvSpPr/>
          <p:nvPr/>
        </p:nvSpPr>
        <p:spPr>
          <a:xfrm>
            <a:off x="4389120" y="1234440"/>
            <a:ext cx="1737360" cy="2697480"/>
          </a:xfrm>
          <a:prstGeom prst="roundRect">
            <a:avLst>
              <a:gd fmla="val 5263" name="adj"/>
            </a:avLst>
          </a:prstGeom>
          <a:solidFill>
            <a:schemeClr val="accent1"/>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m_orders_master</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Union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Lookup</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Filter bad rows</a:t>
            </a:r>
            <a:endParaRPr b="0" i="0" sz="1300" u="none" cap="none" strike="noStrike">
              <a:solidFill>
                <a:schemeClr val="dk1"/>
              </a:solidFill>
              <a:latin typeface="Calibri"/>
              <a:ea typeface="Calibri"/>
              <a:cs typeface="Calibri"/>
              <a:sym typeface="Calibri"/>
            </a:endParaRPr>
          </a:p>
        </p:txBody>
      </p:sp>
      <p:sp>
        <p:nvSpPr>
          <p:cNvPr id="158" name="Google Shape;158;p6"/>
          <p:cNvSpPr txBox="1"/>
          <p:nvPr/>
        </p:nvSpPr>
        <p:spPr>
          <a:xfrm>
            <a:off x="457200" y="4206240"/>
            <a:ext cx="7680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Each box is a separate mapping and mapping task, started by a person</a:t>
            </a:r>
            <a:endParaRPr b="0" i="0" sz="1500" u="none" cap="none" strike="noStrike">
              <a:solidFill>
                <a:schemeClr val="dk1"/>
              </a:solidFill>
              <a:latin typeface="Calibri"/>
              <a:ea typeface="Calibri"/>
              <a:cs typeface="Calibri"/>
              <a:sym typeface="Calibri"/>
            </a:endParaRPr>
          </a:p>
        </p:txBody>
      </p:sp>
      <p:sp>
        <p:nvSpPr>
          <p:cNvPr id="159" name="Google Shape;159;p6"/>
          <p:cNvSpPr txBox="1"/>
          <p:nvPr>
            <p:ph idx="4294967295"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A99"/>
                </a:solidFill>
                <a:latin typeface="Calibri"/>
                <a:ea typeface="Calibri"/>
                <a:cs typeface="Calibri"/>
                <a:sym typeface="Calibri"/>
              </a:rPr>
              <a:t>‹#›</a:t>
            </a:fld>
            <a:endParaRPr b="0" i="0" sz="1000" u="none" cap="none" strike="noStrike">
              <a:solidFill>
                <a:srgbClr val="6B7A99"/>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7"/>
          <p:cNvSpPr txBox="1"/>
          <p:nvPr>
            <p:ph type="title"/>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Cambria"/>
              <a:buNone/>
            </a:pPr>
            <a:r>
              <a:rPr b="1" lang="en-US" sz="3000">
                <a:solidFill>
                  <a:schemeClr val="dk2"/>
                </a:solidFill>
              </a:rPr>
              <a:t>Why the manual way hurts</a:t>
            </a:r>
            <a:endParaRPr sz="3000"/>
          </a:p>
        </p:txBody>
      </p:sp>
      <p:sp>
        <p:nvSpPr>
          <p:cNvPr id="166" name="Google Shape;166;p7"/>
          <p:cNvSpPr/>
          <p:nvPr/>
        </p:nvSpPr>
        <p:spPr>
          <a:xfrm>
            <a:off x="457200" y="1234440"/>
            <a:ext cx="4023360" cy="1554480"/>
          </a:xfrm>
          <a:prstGeom prst="roundRect">
            <a:avLst>
              <a:gd fmla="val 705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
          <p:cNvSpPr/>
          <p:nvPr/>
        </p:nvSpPr>
        <p:spPr>
          <a:xfrm>
            <a:off x="640080" y="1691640"/>
            <a:ext cx="640080" cy="640080"/>
          </a:xfrm>
          <a:prstGeom prst="ellipse">
            <a:avLst/>
          </a:prstGeom>
          <a:solidFill>
            <a:srgbClr val="D64550"/>
          </a:solidFill>
          <a:ln cap="flat" cmpd="sng" w="12700">
            <a:solidFill>
              <a:srgbClr val="D64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8" name="Google Shape;168;p7"/>
          <p:cNvPicPr preferRelativeResize="0"/>
          <p:nvPr/>
        </p:nvPicPr>
        <p:blipFill rotWithShape="1">
          <a:blip r:embed="rId3">
            <a:alphaModFix/>
          </a:blip>
          <a:srcRect b="0" l="0" r="0" t="0"/>
          <a:stretch/>
        </p:blipFill>
        <p:spPr>
          <a:xfrm>
            <a:off x="800100" y="1851660"/>
            <a:ext cx="320040" cy="320040"/>
          </a:xfrm>
          <a:prstGeom prst="rect">
            <a:avLst/>
          </a:prstGeom>
          <a:noFill/>
          <a:ln>
            <a:noFill/>
          </a:ln>
        </p:spPr>
      </p:pic>
      <p:sp>
        <p:nvSpPr>
          <p:cNvPr id="169" name="Google Shape;169;p7"/>
          <p:cNvSpPr txBox="1"/>
          <p:nvPr/>
        </p:nvSpPr>
        <p:spPr>
          <a:xfrm>
            <a:off x="1508760" y="1417320"/>
            <a:ext cx="2834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People decide the run order</a:t>
            </a:r>
            <a:endParaRPr b="0" i="0" sz="1700" u="none" cap="none" strike="noStrike">
              <a:solidFill>
                <a:schemeClr val="dk1"/>
              </a:solidFill>
              <a:latin typeface="Calibri"/>
              <a:ea typeface="Calibri"/>
              <a:cs typeface="Calibri"/>
              <a:sym typeface="Calibri"/>
            </a:endParaRPr>
          </a:p>
        </p:txBody>
      </p:sp>
      <p:sp>
        <p:nvSpPr>
          <p:cNvPr id="170" name="Google Shape;170;p7"/>
          <p:cNvSpPr txBox="1"/>
          <p:nvPr/>
        </p:nvSpPr>
        <p:spPr>
          <a:xfrm>
            <a:off x="1508760" y="1828800"/>
            <a:ext cx="28346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The merge must wait for all three loads; someone has to check and click</a:t>
            </a:r>
            <a:endParaRPr b="0" i="0" sz="1400" u="none" cap="none" strike="noStrike">
              <a:solidFill>
                <a:schemeClr val="dk1"/>
              </a:solidFill>
              <a:latin typeface="Calibri"/>
              <a:ea typeface="Calibri"/>
              <a:cs typeface="Calibri"/>
              <a:sym typeface="Calibri"/>
            </a:endParaRPr>
          </a:p>
        </p:txBody>
      </p:sp>
      <p:sp>
        <p:nvSpPr>
          <p:cNvPr id="171" name="Google Shape;171;p7"/>
          <p:cNvSpPr/>
          <p:nvPr/>
        </p:nvSpPr>
        <p:spPr>
          <a:xfrm>
            <a:off x="4663440" y="1234440"/>
            <a:ext cx="4023360" cy="1554480"/>
          </a:xfrm>
          <a:prstGeom prst="roundRect">
            <a:avLst>
              <a:gd fmla="val 705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4846320" y="1691640"/>
            <a:ext cx="640080" cy="640080"/>
          </a:xfrm>
          <a:prstGeom prst="ellipse">
            <a:avLst/>
          </a:prstGeom>
          <a:solidFill>
            <a:srgbClr val="D64550"/>
          </a:solidFill>
          <a:ln cap="flat" cmpd="sng" w="12700">
            <a:solidFill>
              <a:srgbClr val="D64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3" name="Google Shape;173;p7"/>
          <p:cNvPicPr preferRelativeResize="0"/>
          <p:nvPr/>
        </p:nvPicPr>
        <p:blipFill rotWithShape="1">
          <a:blip r:embed="rId4">
            <a:alphaModFix/>
          </a:blip>
          <a:srcRect b="0" l="0" r="0" t="0"/>
          <a:stretch/>
        </p:blipFill>
        <p:spPr>
          <a:xfrm>
            <a:off x="5006340" y="1851660"/>
            <a:ext cx="320040" cy="320040"/>
          </a:xfrm>
          <a:prstGeom prst="rect">
            <a:avLst/>
          </a:prstGeom>
          <a:noFill/>
          <a:ln>
            <a:noFill/>
          </a:ln>
        </p:spPr>
      </p:pic>
      <p:sp>
        <p:nvSpPr>
          <p:cNvPr id="174" name="Google Shape;174;p7"/>
          <p:cNvSpPr txBox="1"/>
          <p:nvPr/>
        </p:nvSpPr>
        <p:spPr>
          <a:xfrm>
            <a:off x="5715000" y="1417320"/>
            <a:ext cx="2834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Failures go unnoticed</a:t>
            </a:r>
            <a:endParaRPr b="0" i="0" sz="1700" u="none" cap="none" strike="noStrike">
              <a:solidFill>
                <a:schemeClr val="dk1"/>
              </a:solidFill>
              <a:latin typeface="Calibri"/>
              <a:ea typeface="Calibri"/>
              <a:cs typeface="Calibri"/>
              <a:sym typeface="Calibri"/>
            </a:endParaRPr>
          </a:p>
        </p:txBody>
      </p:sp>
      <p:sp>
        <p:nvSpPr>
          <p:cNvPr id="175" name="Google Shape;175;p7"/>
          <p:cNvSpPr txBox="1"/>
          <p:nvPr/>
        </p:nvSpPr>
        <p:spPr>
          <a:xfrm>
            <a:off x="5715000" y="1828800"/>
            <a:ext cx="28346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A failed mapping may be found hours later, after sellers miss orders</a:t>
            </a:r>
            <a:endParaRPr b="0" i="0" sz="1400" u="none" cap="none" strike="noStrike">
              <a:solidFill>
                <a:schemeClr val="dk1"/>
              </a:solidFill>
              <a:latin typeface="Calibri"/>
              <a:ea typeface="Calibri"/>
              <a:cs typeface="Calibri"/>
              <a:sym typeface="Calibri"/>
            </a:endParaRPr>
          </a:p>
        </p:txBody>
      </p:sp>
      <p:sp>
        <p:nvSpPr>
          <p:cNvPr id="176" name="Google Shape;176;p7"/>
          <p:cNvSpPr/>
          <p:nvPr/>
        </p:nvSpPr>
        <p:spPr>
          <a:xfrm>
            <a:off x="457200" y="2971800"/>
            <a:ext cx="4023360" cy="1554480"/>
          </a:xfrm>
          <a:prstGeom prst="roundRect">
            <a:avLst>
              <a:gd fmla="val 705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p:nvPr/>
        </p:nvSpPr>
        <p:spPr>
          <a:xfrm>
            <a:off x="640080" y="3429000"/>
            <a:ext cx="640080" cy="640080"/>
          </a:xfrm>
          <a:prstGeom prst="ellipse">
            <a:avLst/>
          </a:prstGeom>
          <a:solidFill>
            <a:srgbClr val="D64550"/>
          </a:solidFill>
          <a:ln cap="flat" cmpd="sng" w="12700">
            <a:solidFill>
              <a:srgbClr val="D64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8" name="Google Shape;178;p7"/>
          <p:cNvPicPr preferRelativeResize="0"/>
          <p:nvPr/>
        </p:nvPicPr>
        <p:blipFill rotWithShape="1">
          <a:blip r:embed="rId5">
            <a:alphaModFix/>
          </a:blip>
          <a:srcRect b="0" l="0" r="0" t="0"/>
          <a:stretch/>
        </p:blipFill>
        <p:spPr>
          <a:xfrm>
            <a:off x="800100" y="3589020"/>
            <a:ext cx="320040" cy="320040"/>
          </a:xfrm>
          <a:prstGeom prst="rect">
            <a:avLst/>
          </a:prstGeom>
          <a:noFill/>
          <a:ln>
            <a:noFill/>
          </a:ln>
        </p:spPr>
      </p:pic>
      <p:sp>
        <p:nvSpPr>
          <p:cNvPr id="179" name="Google Shape;179;p7"/>
          <p:cNvSpPr txBox="1"/>
          <p:nvPr/>
        </p:nvSpPr>
        <p:spPr>
          <a:xfrm>
            <a:off x="1508760" y="3154680"/>
            <a:ext cx="2834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Slow, one at a time</a:t>
            </a:r>
            <a:endParaRPr b="0" i="0" sz="1700" u="none" cap="none" strike="noStrike">
              <a:solidFill>
                <a:schemeClr val="dk1"/>
              </a:solidFill>
              <a:latin typeface="Calibri"/>
              <a:ea typeface="Calibri"/>
              <a:cs typeface="Calibri"/>
              <a:sym typeface="Calibri"/>
            </a:endParaRPr>
          </a:p>
        </p:txBody>
      </p:sp>
      <p:sp>
        <p:nvSpPr>
          <p:cNvPr id="180" name="Google Shape;180;p7"/>
          <p:cNvSpPr txBox="1"/>
          <p:nvPr/>
        </p:nvSpPr>
        <p:spPr>
          <a:xfrm>
            <a:off x="1508760" y="3566160"/>
            <a:ext cx="28346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Tasks run by hand in sequence while delivery partners wait for data</a:t>
            </a:r>
            <a:endParaRPr b="0" i="0" sz="1400" u="none" cap="none" strike="noStrike">
              <a:solidFill>
                <a:schemeClr val="dk1"/>
              </a:solidFill>
              <a:latin typeface="Calibri"/>
              <a:ea typeface="Calibri"/>
              <a:cs typeface="Calibri"/>
              <a:sym typeface="Calibri"/>
            </a:endParaRPr>
          </a:p>
        </p:txBody>
      </p:sp>
      <p:sp>
        <p:nvSpPr>
          <p:cNvPr id="181" name="Google Shape;181;p7"/>
          <p:cNvSpPr/>
          <p:nvPr/>
        </p:nvSpPr>
        <p:spPr>
          <a:xfrm>
            <a:off x="4663440" y="2971800"/>
            <a:ext cx="4023360" cy="1554480"/>
          </a:xfrm>
          <a:prstGeom prst="roundRect">
            <a:avLst>
              <a:gd fmla="val 705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4846320" y="3429000"/>
            <a:ext cx="640080" cy="640080"/>
          </a:xfrm>
          <a:prstGeom prst="ellipse">
            <a:avLst/>
          </a:prstGeom>
          <a:solidFill>
            <a:srgbClr val="D64550"/>
          </a:solidFill>
          <a:ln cap="flat" cmpd="sng" w="12700">
            <a:solidFill>
              <a:srgbClr val="D64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3" name="Google Shape;183;p7"/>
          <p:cNvPicPr preferRelativeResize="0"/>
          <p:nvPr/>
        </p:nvPicPr>
        <p:blipFill rotWithShape="1">
          <a:blip r:embed="rId6">
            <a:alphaModFix/>
          </a:blip>
          <a:srcRect b="0" l="0" r="0" t="0"/>
          <a:stretch/>
        </p:blipFill>
        <p:spPr>
          <a:xfrm>
            <a:off x="5006340" y="3589020"/>
            <a:ext cx="320040" cy="320040"/>
          </a:xfrm>
          <a:prstGeom prst="rect">
            <a:avLst/>
          </a:prstGeom>
          <a:noFill/>
          <a:ln>
            <a:noFill/>
          </a:ln>
        </p:spPr>
      </p:pic>
      <p:sp>
        <p:nvSpPr>
          <p:cNvPr id="184" name="Google Shape;184;p7"/>
          <p:cNvSpPr txBox="1"/>
          <p:nvPr/>
        </p:nvSpPr>
        <p:spPr>
          <a:xfrm>
            <a:off x="5715000" y="3154680"/>
            <a:ext cx="2834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Repeated, error-prone work</a:t>
            </a:r>
            <a:endParaRPr b="0" i="0" sz="1700" u="none" cap="none" strike="noStrike">
              <a:solidFill>
                <a:schemeClr val="dk1"/>
              </a:solidFill>
              <a:latin typeface="Calibri"/>
              <a:ea typeface="Calibri"/>
              <a:cs typeface="Calibri"/>
              <a:sym typeface="Calibri"/>
            </a:endParaRPr>
          </a:p>
        </p:txBody>
      </p:sp>
      <p:sp>
        <p:nvSpPr>
          <p:cNvPr id="185" name="Google Shape;185;p7"/>
          <p:cNvSpPr txBox="1"/>
          <p:nvPr/>
        </p:nvSpPr>
        <p:spPr>
          <a:xfrm>
            <a:off x="5715000" y="3566160"/>
            <a:ext cx="28346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Same steps every day; one skipped step means wrong or missing data</a:t>
            </a:r>
            <a:endParaRPr b="0" i="0" sz="1400" u="none" cap="none" strike="noStrike">
              <a:solidFill>
                <a:schemeClr val="dk1"/>
              </a:solidFill>
              <a:latin typeface="Calibri"/>
              <a:ea typeface="Calibri"/>
              <a:cs typeface="Calibri"/>
              <a:sym typeface="Calibri"/>
            </a:endParaRPr>
          </a:p>
        </p:txBody>
      </p:sp>
      <p:sp>
        <p:nvSpPr>
          <p:cNvPr id="186" name="Google Shape;186;p7"/>
          <p:cNvSpPr txBox="1"/>
          <p:nvPr>
            <p:ph idx="4294967295"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A99"/>
                </a:solidFill>
                <a:latin typeface="Calibri"/>
                <a:ea typeface="Calibri"/>
                <a:cs typeface="Calibri"/>
                <a:sym typeface="Calibri"/>
              </a:rPr>
              <a:t>‹#›</a:t>
            </a:fld>
            <a:endParaRPr b="0" i="0" sz="1000" u="none" cap="none" strike="noStrike">
              <a:solidFill>
                <a:srgbClr val="6B7A99"/>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8"/>
          <p:cNvSpPr txBox="1"/>
          <p:nvPr/>
        </p:nvSpPr>
        <p:spPr>
          <a:xfrm>
            <a:off x="548640" y="1417320"/>
            <a:ext cx="27432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Calibri"/>
              <a:buNone/>
            </a:pPr>
            <a:r>
              <a:rPr b="1" i="0" lang="en-US" sz="1600" u="none" cap="none" strike="noStrike">
                <a:solidFill>
                  <a:schemeClr val="accent1"/>
                </a:solidFill>
                <a:latin typeface="Calibri"/>
                <a:ea typeface="Calibri"/>
                <a:cs typeface="Calibri"/>
                <a:sym typeface="Calibri"/>
              </a:rPr>
              <a:t>PART 2</a:t>
            </a:r>
            <a:endParaRPr b="0" i="0" sz="1600" u="none" cap="none" strike="noStrike">
              <a:solidFill>
                <a:schemeClr val="dk1"/>
              </a:solidFill>
              <a:latin typeface="Calibri"/>
              <a:ea typeface="Calibri"/>
              <a:cs typeface="Calibri"/>
              <a:sym typeface="Calibri"/>
            </a:endParaRPr>
          </a:p>
        </p:txBody>
      </p:sp>
      <p:sp>
        <p:nvSpPr>
          <p:cNvPr id="193" name="Google Shape;193;p8"/>
          <p:cNvSpPr txBox="1"/>
          <p:nvPr>
            <p:ph type="title"/>
          </p:nvPr>
        </p:nvSpPr>
        <p:spPr>
          <a:xfrm>
            <a:off x="548640" y="1828800"/>
            <a:ext cx="5394960" cy="10972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800"/>
              <a:buFont typeface="Cambria"/>
              <a:buNone/>
            </a:pPr>
            <a:r>
              <a:rPr b="1" lang="en-US" sz="3800">
                <a:solidFill>
                  <a:schemeClr val="lt1"/>
                </a:solidFill>
              </a:rPr>
              <a:t>Automated Taskflow</a:t>
            </a:r>
            <a:endParaRPr sz="3800"/>
          </a:p>
        </p:txBody>
      </p:sp>
      <p:sp>
        <p:nvSpPr>
          <p:cNvPr id="194" name="Google Shape;194;p8"/>
          <p:cNvSpPr txBox="1"/>
          <p:nvPr>
            <p:ph idx="1" type="body"/>
          </p:nvPr>
        </p:nvSpPr>
        <p:spPr>
          <a:xfrm>
            <a:off x="548640" y="3017520"/>
            <a:ext cx="512064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1600"/>
              <a:buNone/>
            </a:pPr>
            <a:r>
              <a:rPr lang="en-US" sz="1600">
                <a:solidFill>
                  <a:schemeClr val="lt2"/>
                </a:solidFill>
              </a:rPr>
              <a:t>Orchestrating the same mappings, automatically</a:t>
            </a:r>
            <a:endParaRPr sz="1600"/>
          </a:p>
        </p:txBody>
      </p:sp>
      <p:sp>
        <p:nvSpPr>
          <p:cNvPr id="195" name="Google Shape;195;p8"/>
          <p:cNvSpPr/>
          <p:nvPr/>
        </p:nvSpPr>
        <p:spPr>
          <a:xfrm>
            <a:off x="6400800" y="1554480"/>
            <a:ext cx="2011680" cy="2011680"/>
          </a:xfrm>
          <a:prstGeom prst="ellipse">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6" name="Google Shape;196;p8"/>
          <p:cNvPicPr preferRelativeResize="0"/>
          <p:nvPr/>
        </p:nvPicPr>
        <p:blipFill rotWithShape="1">
          <a:blip r:embed="rId3">
            <a:alphaModFix/>
          </a:blip>
          <a:srcRect b="0" l="0" r="0" t="0"/>
          <a:stretch/>
        </p:blipFill>
        <p:spPr>
          <a:xfrm>
            <a:off x="6903720" y="2057400"/>
            <a:ext cx="1005840" cy="10058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9"/>
          <p:cNvSpPr txBox="1"/>
          <p:nvPr>
            <p:ph type="title"/>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Cambria"/>
              <a:buNone/>
            </a:pPr>
            <a:r>
              <a:rPr b="1" lang="en-US" sz="3000">
                <a:solidFill>
                  <a:schemeClr val="dk2"/>
                </a:solidFill>
              </a:rPr>
              <a:t>What is a Taskflow?</a:t>
            </a:r>
            <a:endParaRPr sz="3000"/>
          </a:p>
        </p:txBody>
      </p:sp>
      <p:sp>
        <p:nvSpPr>
          <p:cNvPr id="203" name="Google Shape;203;p9"/>
          <p:cNvSpPr txBox="1"/>
          <p:nvPr/>
        </p:nvSpPr>
        <p:spPr>
          <a:xfrm>
            <a:off x="457200" y="1234440"/>
            <a:ext cx="40233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A Taskflow connects many tasks into one automated workflow in Data Integration.</a:t>
            </a:r>
            <a:endParaRPr b="0" i="0" sz="1700" u="none" cap="none" strike="noStrike">
              <a:solidFill>
                <a:schemeClr val="dk1"/>
              </a:solidFill>
              <a:latin typeface="Calibri"/>
              <a:ea typeface="Calibri"/>
              <a:cs typeface="Calibri"/>
              <a:sym typeface="Calibri"/>
            </a:endParaRPr>
          </a:p>
        </p:txBody>
      </p:sp>
      <p:sp>
        <p:nvSpPr>
          <p:cNvPr id="204" name="Google Shape;204;p9"/>
          <p:cNvSpPr txBox="1"/>
          <p:nvPr/>
        </p:nvSpPr>
        <p:spPr>
          <a:xfrm>
            <a:off x="457200" y="2286000"/>
            <a:ext cx="4023360" cy="21031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Sets the order: sequence or parallel</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Takes decisions from task results</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Handles errors and sends alerts</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Starts on a schedule or when a file arrives</a:t>
            </a:r>
            <a:endParaRPr b="0" i="0" sz="1600" u="none" cap="none" strike="noStrike">
              <a:solidFill>
                <a:schemeClr val="dk1"/>
              </a:solidFill>
              <a:latin typeface="Calibri"/>
              <a:ea typeface="Calibri"/>
              <a:cs typeface="Calibri"/>
              <a:sym typeface="Calibri"/>
            </a:endParaRPr>
          </a:p>
        </p:txBody>
      </p:sp>
      <p:sp>
        <p:nvSpPr>
          <p:cNvPr id="205" name="Google Shape;205;p9"/>
          <p:cNvSpPr txBox="1"/>
          <p:nvPr/>
        </p:nvSpPr>
        <p:spPr>
          <a:xfrm>
            <a:off x="4937760" y="1234440"/>
            <a:ext cx="3749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1" i="0" lang="en-US" sz="1200" u="none" cap="none" strike="noStrike">
                <a:solidFill>
                  <a:schemeClr val="accent6"/>
                </a:solidFill>
                <a:latin typeface="Calibri"/>
                <a:ea typeface="Calibri"/>
                <a:cs typeface="Calibri"/>
                <a:sym typeface="Calibri"/>
              </a:rPr>
              <a:t>STEPS YOU CAN DRAG ONTO THE CANVAS</a:t>
            </a:r>
            <a:endParaRPr b="0" i="0" sz="1200" u="none" cap="none" strike="noStrike">
              <a:solidFill>
                <a:schemeClr val="dk1"/>
              </a:solidFill>
              <a:latin typeface="Calibri"/>
              <a:ea typeface="Calibri"/>
              <a:cs typeface="Calibri"/>
              <a:sym typeface="Calibri"/>
            </a:endParaRPr>
          </a:p>
        </p:txBody>
      </p:sp>
      <p:sp>
        <p:nvSpPr>
          <p:cNvPr id="206" name="Google Shape;206;p9"/>
          <p:cNvSpPr/>
          <p:nvPr/>
        </p:nvSpPr>
        <p:spPr>
          <a:xfrm>
            <a:off x="4937760" y="1645920"/>
            <a:ext cx="1828800" cy="457200"/>
          </a:xfrm>
          <a:prstGeom prst="roundRect">
            <a:avLst>
              <a:gd fmla="val 20000" name="adj"/>
            </a:avLst>
          </a:prstGeom>
          <a:solidFill>
            <a:schemeClr val="accent1"/>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Data Task</a:t>
            </a:r>
            <a:endParaRPr b="0" i="0" sz="1400" u="none" cap="none" strike="noStrike">
              <a:solidFill>
                <a:schemeClr val="dk1"/>
              </a:solidFill>
              <a:latin typeface="Calibri"/>
              <a:ea typeface="Calibri"/>
              <a:cs typeface="Calibri"/>
              <a:sym typeface="Calibri"/>
            </a:endParaRPr>
          </a:p>
        </p:txBody>
      </p:sp>
      <p:sp>
        <p:nvSpPr>
          <p:cNvPr id="207" name="Google Shape;207;p9"/>
          <p:cNvSpPr/>
          <p:nvPr/>
        </p:nvSpPr>
        <p:spPr>
          <a:xfrm>
            <a:off x="6858000" y="1645920"/>
            <a:ext cx="1828800" cy="457200"/>
          </a:xfrm>
          <a:prstGeom prst="roundRect">
            <a:avLst>
              <a:gd fmla="val 20000"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Parallel Paths</a:t>
            </a:r>
            <a:endParaRPr b="0" i="0" sz="1400" u="none" cap="none" strike="noStrike">
              <a:solidFill>
                <a:schemeClr val="dk1"/>
              </a:solidFill>
              <a:latin typeface="Calibri"/>
              <a:ea typeface="Calibri"/>
              <a:cs typeface="Calibri"/>
              <a:sym typeface="Calibri"/>
            </a:endParaRPr>
          </a:p>
        </p:txBody>
      </p:sp>
      <p:sp>
        <p:nvSpPr>
          <p:cNvPr id="208" name="Google Shape;208;p9"/>
          <p:cNvSpPr/>
          <p:nvPr/>
        </p:nvSpPr>
        <p:spPr>
          <a:xfrm>
            <a:off x="4937760" y="2212848"/>
            <a:ext cx="1828800" cy="457200"/>
          </a:xfrm>
          <a:prstGeom prst="roundRect">
            <a:avLst>
              <a:gd fmla="val 20000"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Decision</a:t>
            </a:r>
            <a:endParaRPr b="0" i="0" sz="1400" u="none" cap="none" strike="noStrike">
              <a:solidFill>
                <a:schemeClr val="dk1"/>
              </a:solidFill>
              <a:latin typeface="Calibri"/>
              <a:ea typeface="Calibri"/>
              <a:cs typeface="Calibri"/>
              <a:sym typeface="Calibri"/>
            </a:endParaRPr>
          </a:p>
        </p:txBody>
      </p:sp>
      <p:sp>
        <p:nvSpPr>
          <p:cNvPr id="209" name="Google Shape;209;p9"/>
          <p:cNvSpPr/>
          <p:nvPr/>
        </p:nvSpPr>
        <p:spPr>
          <a:xfrm>
            <a:off x="6858000" y="2212848"/>
            <a:ext cx="1828800" cy="457200"/>
          </a:xfrm>
          <a:prstGeom prst="roundRect">
            <a:avLst>
              <a:gd fmla="val 20000"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Notification Task</a:t>
            </a:r>
            <a:endParaRPr b="0" i="0" sz="1400" u="none" cap="none" strike="noStrike">
              <a:solidFill>
                <a:schemeClr val="dk1"/>
              </a:solidFill>
              <a:latin typeface="Calibri"/>
              <a:ea typeface="Calibri"/>
              <a:cs typeface="Calibri"/>
              <a:sym typeface="Calibri"/>
            </a:endParaRPr>
          </a:p>
        </p:txBody>
      </p:sp>
      <p:sp>
        <p:nvSpPr>
          <p:cNvPr id="210" name="Google Shape;210;p9"/>
          <p:cNvSpPr/>
          <p:nvPr/>
        </p:nvSpPr>
        <p:spPr>
          <a:xfrm>
            <a:off x="4937760" y="2779776"/>
            <a:ext cx="1828800" cy="457200"/>
          </a:xfrm>
          <a:prstGeom prst="roundRect">
            <a:avLst>
              <a:gd fmla="val 20000"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Command Task</a:t>
            </a:r>
            <a:endParaRPr b="0" i="0" sz="1400" u="none" cap="none" strike="noStrike">
              <a:solidFill>
                <a:schemeClr val="dk1"/>
              </a:solidFill>
              <a:latin typeface="Calibri"/>
              <a:ea typeface="Calibri"/>
              <a:cs typeface="Calibri"/>
              <a:sym typeface="Calibri"/>
            </a:endParaRPr>
          </a:p>
        </p:txBody>
      </p:sp>
      <p:sp>
        <p:nvSpPr>
          <p:cNvPr id="211" name="Google Shape;211;p9"/>
          <p:cNvSpPr/>
          <p:nvPr/>
        </p:nvSpPr>
        <p:spPr>
          <a:xfrm>
            <a:off x="6858000" y="2779776"/>
            <a:ext cx="1828800" cy="457200"/>
          </a:xfrm>
          <a:prstGeom prst="roundRect">
            <a:avLst>
              <a:gd fmla="val 20000"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File Watch Task</a:t>
            </a:r>
            <a:endParaRPr b="0" i="0" sz="1400" u="none" cap="none" strike="noStrike">
              <a:solidFill>
                <a:schemeClr val="dk1"/>
              </a:solidFill>
              <a:latin typeface="Calibri"/>
              <a:ea typeface="Calibri"/>
              <a:cs typeface="Calibri"/>
              <a:sym typeface="Calibri"/>
            </a:endParaRPr>
          </a:p>
        </p:txBody>
      </p:sp>
      <p:sp>
        <p:nvSpPr>
          <p:cNvPr id="212" name="Google Shape;212;p9"/>
          <p:cNvSpPr/>
          <p:nvPr/>
        </p:nvSpPr>
        <p:spPr>
          <a:xfrm>
            <a:off x="4937760" y="3346704"/>
            <a:ext cx="1828800" cy="457200"/>
          </a:xfrm>
          <a:prstGeom prst="roundRect">
            <a:avLst>
              <a:gd fmla="val 20000"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Wait</a:t>
            </a:r>
            <a:endParaRPr b="0" i="0" sz="1400" u="none" cap="none" strike="noStrike">
              <a:solidFill>
                <a:schemeClr val="dk1"/>
              </a:solidFill>
              <a:latin typeface="Calibri"/>
              <a:ea typeface="Calibri"/>
              <a:cs typeface="Calibri"/>
              <a:sym typeface="Calibri"/>
            </a:endParaRPr>
          </a:p>
        </p:txBody>
      </p:sp>
      <p:sp>
        <p:nvSpPr>
          <p:cNvPr id="213" name="Google Shape;213;p9"/>
          <p:cNvSpPr/>
          <p:nvPr/>
        </p:nvSpPr>
        <p:spPr>
          <a:xfrm>
            <a:off x="6858000" y="3346704"/>
            <a:ext cx="1828800" cy="457200"/>
          </a:xfrm>
          <a:prstGeom prst="roundRect">
            <a:avLst>
              <a:gd fmla="val 20000"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Subtaskflow</a:t>
            </a:r>
            <a:endParaRPr b="0" i="0" sz="1400" u="none" cap="none" strike="noStrike">
              <a:solidFill>
                <a:schemeClr val="dk1"/>
              </a:solidFill>
              <a:latin typeface="Calibri"/>
              <a:ea typeface="Calibri"/>
              <a:cs typeface="Calibri"/>
              <a:sym typeface="Calibri"/>
            </a:endParaRPr>
          </a:p>
        </p:txBody>
      </p:sp>
      <p:sp>
        <p:nvSpPr>
          <p:cNvPr id="214" name="Google Shape;214;p9"/>
          <p:cNvSpPr/>
          <p:nvPr/>
        </p:nvSpPr>
        <p:spPr>
          <a:xfrm>
            <a:off x="4937760" y="3913632"/>
            <a:ext cx="1828800" cy="457200"/>
          </a:xfrm>
          <a:prstGeom prst="roundRect">
            <a:avLst>
              <a:gd fmla="val 20000"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Assignment</a:t>
            </a:r>
            <a:endParaRPr b="0" i="0" sz="1400" u="none" cap="none" strike="noStrike">
              <a:solidFill>
                <a:schemeClr val="dk1"/>
              </a:solidFill>
              <a:latin typeface="Calibri"/>
              <a:ea typeface="Calibri"/>
              <a:cs typeface="Calibri"/>
              <a:sym typeface="Calibri"/>
            </a:endParaRPr>
          </a:p>
        </p:txBody>
      </p:sp>
      <p:sp>
        <p:nvSpPr>
          <p:cNvPr id="215" name="Google Shape;215;p9"/>
          <p:cNvSpPr/>
          <p:nvPr/>
        </p:nvSpPr>
        <p:spPr>
          <a:xfrm>
            <a:off x="6858000" y="3913632"/>
            <a:ext cx="1828800" cy="457200"/>
          </a:xfrm>
          <a:prstGeom prst="roundRect">
            <a:avLst>
              <a:gd fmla="val 20000"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End</a:t>
            </a:r>
            <a:endParaRPr b="0" i="0" sz="1400" u="none" cap="none" strike="noStrike">
              <a:solidFill>
                <a:schemeClr val="dk1"/>
              </a:solidFill>
              <a:latin typeface="Calibri"/>
              <a:ea typeface="Calibri"/>
              <a:cs typeface="Calibri"/>
              <a:sym typeface="Calibri"/>
            </a:endParaRPr>
          </a:p>
        </p:txBody>
      </p:sp>
      <p:sp>
        <p:nvSpPr>
          <p:cNvPr id="216" name="Google Shape;216;p9"/>
          <p:cNvSpPr txBox="1"/>
          <p:nvPr>
            <p:ph idx="4294967295"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A99"/>
                </a:solidFill>
                <a:latin typeface="Calibri"/>
                <a:ea typeface="Calibri"/>
                <a:cs typeface="Calibri"/>
                <a:sym typeface="Calibri"/>
              </a:rPr>
              <a:t>‹#›</a:t>
            </a:fld>
            <a:endParaRPr b="0" i="0" sz="1000" u="none" cap="none" strike="noStrike">
              <a:solidFill>
                <a:srgbClr val="6B7A99"/>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0"/>
          <p:cNvSpPr txBox="1"/>
          <p:nvPr>
            <p:ph type="title"/>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Cambria"/>
              <a:buNone/>
            </a:pPr>
            <a:r>
              <a:rPr b="1" lang="en-US" sz="3000">
                <a:solidFill>
                  <a:schemeClr val="dk2"/>
                </a:solidFill>
              </a:rPr>
              <a:t>Automated flow for order processing</a:t>
            </a:r>
            <a:endParaRPr sz="3000"/>
          </a:p>
        </p:txBody>
      </p:sp>
      <p:sp>
        <p:nvSpPr>
          <p:cNvPr id="223" name="Google Shape;223;p10"/>
          <p:cNvSpPr/>
          <p:nvPr/>
        </p:nvSpPr>
        <p:spPr>
          <a:xfrm>
            <a:off x="457200" y="2148840"/>
            <a:ext cx="1005840" cy="100584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Start</a:t>
            </a:r>
            <a:endParaRPr b="0" i="0" sz="1400" u="none" cap="none" strike="noStrike">
              <a:solidFill>
                <a:schemeClr val="dk1"/>
              </a:solidFill>
              <a:latin typeface="Calibri"/>
              <a:ea typeface="Calibri"/>
              <a:cs typeface="Calibri"/>
              <a:sym typeface="Calibri"/>
            </a:endParaRPr>
          </a:p>
        </p:txBody>
      </p:sp>
      <p:sp>
        <p:nvSpPr>
          <p:cNvPr id="224" name="Google Shape;224;p10"/>
          <p:cNvSpPr txBox="1"/>
          <p:nvPr/>
        </p:nvSpPr>
        <p:spPr>
          <a:xfrm>
            <a:off x="365760" y="3200400"/>
            <a:ext cx="118872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Schedule or file arrival</a:t>
            </a:r>
            <a:endParaRPr b="0" i="0" sz="1200" u="none" cap="none" strike="noStrike">
              <a:solidFill>
                <a:schemeClr val="dk1"/>
              </a:solidFill>
              <a:latin typeface="Calibri"/>
              <a:ea typeface="Calibri"/>
              <a:cs typeface="Calibri"/>
              <a:sym typeface="Calibri"/>
            </a:endParaRPr>
          </a:p>
        </p:txBody>
      </p:sp>
      <p:cxnSp>
        <p:nvCxnSpPr>
          <p:cNvPr id="225" name="Google Shape;225;p10"/>
          <p:cNvCxnSpPr/>
          <p:nvPr/>
        </p:nvCxnSpPr>
        <p:spPr>
          <a:xfrm>
            <a:off x="1481328" y="2651760"/>
            <a:ext cx="237744" cy="0"/>
          </a:xfrm>
          <a:prstGeom prst="straightConnector1">
            <a:avLst/>
          </a:prstGeom>
          <a:noFill/>
          <a:ln cap="flat" cmpd="sng" w="25400">
            <a:solidFill>
              <a:schemeClr val="accent6"/>
            </a:solidFill>
            <a:prstDash val="solid"/>
            <a:round/>
            <a:headEnd len="sm" w="sm" type="none"/>
            <a:tailEnd len="med" w="med" type="triangle"/>
          </a:ln>
        </p:spPr>
      </p:cxnSp>
      <p:sp>
        <p:nvSpPr>
          <p:cNvPr id="226" name="Google Shape;226;p10"/>
          <p:cNvSpPr/>
          <p:nvPr/>
        </p:nvSpPr>
        <p:spPr>
          <a:xfrm>
            <a:off x="1737360" y="1280160"/>
            <a:ext cx="1828800" cy="2834640"/>
          </a:xfrm>
          <a:prstGeom prst="roundRect">
            <a:avLst>
              <a:gd fmla="val 5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
          <p:cNvSpPr txBox="1"/>
          <p:nvPr/>
        </p:nvSpPr>
        <p:spPr>
          <a:xfrm>
            <a:off x="1737360" y="1353312"/>
            <a:ext cx="18288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PARALLEL PATHS</a:t>
            </a:r>
            <a:endParaRPr b="0" i="0" sz="1100" u="none" cap="none" strike="noStrike">
              <a:solidFill>
                <a:schemeClr val="dk1"/>
              </a:solidFill>
              <a:latin typeface="Calibri"/>
              <a:ea typeface="Calibri"/>
              <a:cs typeface="Calibri"/>
              <a:sym typeface="Calibri"/>
            </a:endParaRPr>
          </a:p>
        </p:txBody>
      </p:sp>
      <p:sp>
        <p:nvSpPr>
          <p:cNvPr id="228" name="Google Shape;228;p10"/>
          <p:cNvSpPr/>
          <p:nvPr/>
        </p:nvSpPr>
        <p:spPr>
          <a:xfrm>
            <a:off x="1828800" y="1691640"/>
            <a:ext cx="1645920" cy="640080"/>
          </a:xfrm>
          <a:prstGeom prst="roundRect">
            <a:avLst>
              <a:gd fmla="val 14286"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JSON orders task</a:t>
            </a:r>
            <a:endParaRPr b="0" i="0" sz="1300" u="none" cap="none" strike="noStrike">
              <a:solidFill>
                <a:schemeClr val="dk1"/>
              </a:solidFill>
              <a:latin typeface="Calibri"/>
              <a:ea typeface="Calibri"/>
              <a:cs typeface="Calibri"/>
              <a:sym typeface="Calibri"/>
            </a:endParaRPr>
          </a:p>
        </p:txBody>
      </p:sp>
      <p:sp>
        <p:nvSpPr>
          <p:cNvPr id="229" name="Google Shape;229;p10"/>
          <p:cNvSpPr/>
          <p:nvPr/>
        </p:nvSpPr>
        <p:spPr>
          <a:xfrm>
            <a:off x="1828800" y="2468880"/>
            <a:ext cx="1645920" cy="640080"/>
          </a:xfrm>
          <a:prstGeom prst="roundRect">
            <a:avLst>
              <a:gd fmla="val 14286"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XML orders task</a:t>
            </a:r>
            <a:endParaRPr b="0" i="0" sz="1300" u="none" cap="none" strike="noStrike">
              <a:solidFill>
                <a:schemeClr val="dk1"/>
              </a:solidFill>
              <a:latin typeface="Calibri"/>
              <a:ea typeface="Calibri"/>
              <a:cs typeface="Calibri"/>
              <a:sym typeface="Calibri"/>
            </a:endParaRPr>
          </a:p>
        </p:txBody>
      </p:sp>
      <p:sp>
        <p:nvSpPr>
          <p:cNvPr id="230" name="Google Shape;230;p10"/>
          <p:cNvSpPr/>
          <p:nvPr/>
        </p:nvSpPr>
        <p:spPr>
          <a:xfrm>
            <a:off x="1828800" y="3246120"/>
            <a:ext cx="1645920" cy="640080"/>
          </a:xfrm>
          <a:prstGeom prst="roundRect">
            <a:avLst>
              <a:gd fmla="val 14286" name="adj"/>
            </a:avLst>
          </a:prstGeom>
          <a:solidFill>
            <a:schemeClr val="accent3"/>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CSV orders task</a:t>
            </a:r>
            <a:endParaRPr b="0" i="0" sz="1300" u="none" cap="none" strike="noStrike">
              <a:solidFill>
                <a:schemeClr val="dk1"/>
              </a:solidFill>
              <a:latin typeface="Calibri"/>
              <a:ea typeface="Calibri"/>
              <a:cs typeface="Calibri"/>
              <a:sym typeface="Calibri"/>
            </a:endParaRPr>
          </a:p>
        </p:txBody>
      </p:sp>
      <p:cxnSp>
        <p:nvCxnSpPr>
          <p:cNvPr id="231" name="Google Shape;231;p10"/>
          <p:cNvCxnSpPr/>
          <p:nvPr/>
        </p:nvCxnSpPr>
        <p:spPr>
          <a:xfrm>
            <a:off x="3584448" y="2651760"/>
            <a:ext cx="237744" cy="0"/>
          </a:xfrm>
          <a:prstGeom prst="straightConnector1">
            <a:avLst/>
          </a:prstGeom>
          <a:noFill/>
          <a:ln cap="flat" cmpd="sng" w="25400">
            <a:solidFill>
              <a:schemeClr val="accent6"/>
            </a:solidFill>
            <a:prstDash val="solid"/>
            <a:round/>
            <a:headEnd len="sm" w="sm" type="none"/>
            <a:tailEnd len="med" w="med" type="triangle"/>
          </a:ln>
        </p:spPr>
      </p:cxnSp>
      <p:sp>
        <p:nvSpPr>
          <p:cNvPr id="232" name="Google Shape;232;p10"/>
          <p:cNvSpPr/>
          <p:nvPr/>
        </p:nvSpPr>
        <p:spPr>
          <a:xfrm>
            <a:off x="3840480" y="2194560"/>
            <a:ext cx="1188720" cy="914400"/>
          </a:xfrm>
          <a:prstGeom prst="roundRect">
            <a:avLst>
              <a:gd fmla="val 10000" name="adj"/>
            </a:avLst>
          </a:prstGeom>
          <a:solidFill>
            <a:schemeClr val="accent1"/>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Merge and standardise</a:t>
            </a:r>
            <a:endParaRPr b="0" i="0" sz="1300" u="none" cap="none" strike="noStrike">
              <a:solidFill>
                <a:schemeClr val="dk1"/>
              </a:solidFill>
              <a:latin typeface="Calibri"/>
              <a:ea typeface="Calibri"/>
              <a:cs typeface="Calibri"/>
              <a:sym typeface="Calibri"/>
            </a:endParaRPr>
          </a:p>
        </p:txBody>
      </p:sp>
      <p:cxnSp>
        <p:nvCxnSpPr>
          <p:cNvPr id="233" name="Google Shape;233;p10"/>
          <p:cNvCxnSpPr/>
          <p:nvPr/>
        </p:nvCxnSpPr>
        <p:spPr>
          <a:xfrm>
            <a:off x="5047488" y="2651760"/>
            <a:ext cx="237744" cy="0"/>
          </a:xfrm>
          <a:prstGeom prst="straightConnector1">
            <a:avLst/>
          </a:prstGeom>
          <a:noFill/>
          <a:ln cap="flat" cmpd="sng" w="25400">
            <a:solidFill>
              <a:schemeClr val="accent6"/>
            </a:solidFill>
            <a:prstDash val="solid"/>
            <a:round/>
            <a:headEnd len="sm" w="sm" type="none"/>
            <a:tailEnd len="med" w="med" type="triangle"/>
          </a:ln>
        </p:spPr>
      </p:cxnSp>
      <p:sp>
        <p:nvSpPr>
          <p:cNvPr id="234" name="Google Shape;234;p10"/>
          <p:cNvSpPr/>
          <p:nvPr/>
        </p:nvSpPr>
        <p:spPr>
          <a:xfrm>
            <a:off x="5303520" y="2011680"/>
            <a:ext cx="1280160" cy="1280160"/>
          </a:xfrm>
          <a:prstGeom prst="diamond">
            <a:avLst/>
          </a:prstGeom>
          <a:solidFill>
            <a:schemeClr val="accent4"/>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200"/>
              <a:buFont typeface="Calibri"/>
              <a:buNone/>
            </a:pPr>
            <a:r>
              <a:rPr b="1" i="0" lang="en-US" sz="1200" u="none" cap="none" strike="noStrike">
                <a:solidFill>
                  <a:schemeClr val="dk1"/>
                </a:solidFill>
                <a:latin typeface="Calibri"/>
                <a:ea typeface="Calibri"/>
                <a:cs typeface="Calibri"/>
                <a:sym typeface="Calibri"/>
              </a:rPr>
              <a:t>Rejects found?</a:t>
            </a:r>
            <a:endParaRPr b="0" i="0" sz="1200" u="none" cap="none" strike="noStrike">
              <a:solidFill>
                <a:schemeClr val="dk1"/>
              </a:solidFill>
              <a:latin typeface="Calibri"/>
              <a:ea typeface="Calibri"/>
              <a:cs typeface="Calibri"/>
              <a:sym typeface="Calibri"/>
            </a:endParaRPr>
          </a:p>
        </p:txBody>
      </p:sp>
      <p:cxnSp>
        <p:nvCxnSpPr>
          <p:cNvPr id="235" name="Google Shape;235;p10"/>
          <p:cNvCxnSpPr/>
          <p:nvPr/>
        </p:nvCxnSpPr>
        <p:spPr>
          <a:xfrm>
            <a:off x="6601968" y="2651760"/>
            <a:ext cx="329184" cy="0"/>
          </a:xfrm>
          <a:prstGeom prst="straightConnector1">
            <a:avLst/>
          </a:prstGeom>
          <a:noFill/>
          <a:ln cap="flat" cmpd="sng" w="25400">
            <a:solidFill>
              <a:schemeClr val="accent6"/>
            </a:solidFill>
            <a:prstDash val="solid"/>
            <a:round/>
            <a:headEnd len="sm" w="sm" type="none"/>
            <a:tailEnd len="med" w="med" type="triangle"/>
          </a:ln>
        </p:spPr>
      </p:cxnSp>
      <p:sp>
        <p:nvSpPr>
          <p:cNvPr id="236" name="Google Shape;236;p10"/>
          <p:cNvSpPr txBox="1"/>
          <p:nvPr/>
        </p:nvSpPr>
        <p:spPr>
          <a:xfrm>
            <a:off x="6583680" y="2331720"/>
            <a:ext cx="3657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No</a:t>
            </a:r>
            <a:endParaRPr b="0" i="0" sz="1200" u="none" cap="none" strike="noStrike">
              <a:solidFill>
                <a:schemeClr val="dk1"/>
              </a:solidFill>
              <a:latin typeface="Calibri"/>
              <a:ea typeface="Calibri"/>
              <a:cs typeface="Calibri"/>
              <a:sym typeface="Calibri"/>
            </a:endParaRPr>
          </a:p>
        </p:txBody>
      </p:sp>
      <p:cxnSp>
        <p:nvCxnSpPr>
          <p:cNvPr id="237" name="Google Shape;237;p10"/>
          <p:cNvCxnSpPr/>
          <p:nvPr/>
        </p:nvCxnSpPr>
        <p:spPr>
          <a:xfrm>
            <a:off x="5943600" y="3310128"/>
            <a:ext cx="0" cy="420624"/>
          </a:xfrm>
          <a:prstGeom prst="straightConnector1">
            <a:avLst/>
          </a:prstGeom>
          <a:noFill/>
          <a:ln cap="flat" cmpd="sng" w="25400">
            <a:solidFill>
              <a:schemeClr val="accent6"/>
            </a:solidFill>
            <a:prstDash val="solid"/>
            <a:round/>
            <a:headEnd len="sm" w="sm" type="none"/>
            <a:tailEnd len="med" w="med" type="triangle"/>
          </a:ln>
        </p:spPr>
      </p:cxnSp>
      <p:sp>
        <p:nvSpPr>
          <p:cNvPr id="238" name="Google Shape;238;p10"/>
          <p:cNvSpPr txBox="1"/>
          <p:nvPr/>
        </p:nvSpPr>
        <p:spPr>
          <a:xfrm>
            <a:off x="6035040" y="3337560"/>
            <a:ext cx="457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Yes</a:t>
            </a:r>
            <a:endParaRPr b="0" i="0" sz="1200" u="none" cap="none" strike="noStrike">
              <a:solidFill>
                <a:schemeClr val="dk1"/>
              </a:solidFill>
              <a:latin typeface="Calibri"/>
              <a:ea typeface="Calibri"/>
              <a:cs typeface="Calibri"/>
              <a:sym typeface="Calibri"/>
            </a:endParaRPr>
          </a:p>
        </p:txBody>
      </p:sp>
      <p:sp>
        <p:nvSpPr>
          <p:cNvPr id="239" name="Google Shape;239;p10"/>
          <p:cNvSpPr/>
          <p:nvPr/>
        </p:nvSpPr>
        <p:spPr>
          <a:xfrm>
            <a:off x="5120640" y="3749040"/>
            <a:ext cx="1645920" cy="548640"/>
          </a:xfrm>
          <a:prstGeom prst="roundRect">
            <a:avLst>
              <a:gd fmla="val 16667" name="adj"/>
            </a:avLst>
          </a:prstGeom>
          <a:solidFill>
            <a:schemeClr val="accent5"/>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Email the ops team</a:t>
            </a:r>
            <a:endParaRPr b="0" i="0" sz="1300" u="none" cap="none" strike="noStrike">
              <a:solidFill>
                <a:schemeClr val="dk1"/>
              </a:solidFill>
              <a:latin typeface="Calibri"/>
              <a:ea typeface="Calibri"/>
              <a:cs typeface="Calibri"/>
              <a:sym typeface="Calibri"/>
            </a:endParaRPr>
          </a:p>
        </p:txBody>
      </p:sp>
      <p:sp>
        <p:nvSpPr>
          <p:cNvPr id="240" name="Google Shape;240;p10"/>
          <p:cNvSpPr/>
          <p:nvPr/>
        </p:nvSpPr>
        <p:spPr>
          <a:xfrm>
            <a:off x="6949440" y="1280160"/>
            <a:ext cx="1737360" cy="2834640"/>
          </a:xfrm>
          <a:prstGeom prst="roundRect">
            <a:avLst>
              <a:gd fmla="val 526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txBox="1"/>
          <p:nvPr/>
        </p:nvSpPr>
        <p:spPr>
          <a:xfrm>
            <a:off x="6949440" y="1353312"/>
            <a:ext cx="173736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PARALLEL PATHS</a:t>
            </a:r>
            <a:endParaRPr b="0" i="0" sz="1100" u="none" cap="none" strike="noStrike">
              <a:solidFill>
                <a:schemeClr val="dk1"/>
              </a:solidFill>
              <a:latin typeface="Calibri"/>
              <a:ea typeface="Calibri"/>
              <a:cs typeface="Calibri"/>
              <a:sym typeface="Calibri"/>
            </a:endParaRPr>
          </a:p>
        </p:txBody>
      </p:sp>
      <p:sp>
        <p:nvSpPr>
          <p:cNvPr id="242" name="Google Shape;242;p10"/>
          <p:cNvSpPr/>
          <p:nvPr/>
        </p:nvSpPr>
        <p:spPr>
          <a:xfrm>
            <a:off x="7040880" y="1691640"/>
            <a:ext cx="1554480" cy="640080"/>
          </a:xfrm>
          <a:prstGeom prst="roundRect">
            <a:avLst>
              <a:gd fmla="val 14286" name="adj"/>
            </a:avLst>
          </a:prstGeom>
          <a:solidFill>
            <a:schemeClr val="accent2"/>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Seller feed</a:t>
            </a:r>
            <a:endParaRPr b="0" i="0" sz="1300" u="none" cap="none" strike="noStrike">
              <a:solidFill>
                <a:schemeClr val="dk1"/>
              </a:solidFill>
              <a:latin typeface="Calibri"/>
              <a:ea typeface="Calibri"/>
              <a:cs typeface="Calibri"/>
              <a:sym typeface="Calibri"/>
            </a:endParaRPr>
          </a:p>
        </p:txBody>
      </p:sp>
      <p:sp>
        <p:nvSpPr>
          <p:cNvPr id="243" name="Google Shape;243;p10"/>
          <p:cNvSpPr/>
          <p:nvPr/>
        </p:nvSpPr>
        <p:spPr>
          <a:xfrm>
            <a:off x="7040880" y="2468880"/>
            <a:ext cx="1554480" cy="640080"/>
          </a:xfrm>
          <a:prstGeom prst="roundRect">
            <a:avLst>
              <a:gd fmla="val 14286" name="adj"/>
            </a:avLst>
          </a:prstGeom>
          <a:solidFill>
            <a:schemeClr val="accent2"/>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Delivery partner feed</a:t>
            </a:r>
            <a:endParaRPr b="0" i="0" sz="1300" u="none" cap="none" strike="noStrike">
              <a:solidFill>
                <a:schemeClr val="dk1"/>
              </a:solidFill>
              <a:latin typeface="Calibri"/>
              <a:ea typeface="Calibri"/>
              <a:cs typeface="Calibri"/>
              <a:sym typeface="Calibri"/>
            </a:endParaRPr>
          </a:p>
        </p:txBody>
      </p:sp>
      <p:sp>
        <p:nvSpPr>
          <p:cNvPr id="244" name="Google Shape;244;p10"/>
          <p:cNvSpPr/>
          <p:nvPr/>
        </p:nvSpPr>
        <p:spPr>
          <a:xfrm>
            <a:off x="7040880" y="3246120"/>
            <a:ext cx="1554480" cy="640080"/>
          </a:xfrm>
          <a:prstGeom prst="roundRect">
            <a:avLst>
              <a:gd fmla="val 14286" name="adj"/>
            </a:avLst>
          </a:prstGeom>
          <a:solidFill>
            <a:schemeClr val="accent2"/>
          </a:solidFill>
          <a:ln>
            <a:noFill/>
          </a:ln>
        </p:spPr>
        <p:txBody>
          <a:bodyPr anchorCtr="0" anchor="ctr" bIns="625" lIns="625" spcFirstLastPara="1" rIns="625" wrap="square" tIns="625">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Sales summary</a:t>
            </a:r>
            <a:endParaRPr b="0" i="0" sz="1300" u="none" cap="none" strike="noStrike">
              <a:solidFill>
                <a:schemeClr val="dk1"/>
              </a:solidFill>
              <a:latin typeface="Calibri"/>
              <a:ea typeface="Calibri"/>
              <a:cs typeface="Calibri"/>
              <a:sym typeface="Calibri"/>
            </a:endParaRPr>
          </a:p>
        </p:txBody>
      </p:sp>
      <p:sp>
        <p:nvSpPr>
          <p:cNvPr id="245" name="Google Shape;245;p10"/>
          <p:cNvSpPr txBox="1"/>
          <p:nvPr/>
        </p:nvSpPr>
        <p:spPr>
          <a:xfrm>
            <a:off x="457200" y="4434840"/>
            <a:ext cx="76809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No manual clicks: the taskflow runs, decides and alerts on its own.</a:t>
            </a:r>
            <a:endParaRPr b="0" i="0" sz="1400" u="none" cap="none" strike="noStrike">
              <a:solidFill>
                <a:schemeClr val="dk1"/>
              </a:solidFill>
              <a:latin typeface="Calibri"/>
              <a:ea typeface="Calibri"/>
              <a:cs typeface="Calibri"/>
              <a:sym typeface="Calibri"/>
            </a:endParaRPr>
          </a:p>
        </p:txBody>
      </p:sp>
      <p:sp>
        <p:nvSpPr>
          <p:cNvPr id="246" name="Google Shape;246;p10"/>
          <p:cNvSpPr txBox="1"/>
          <p:nvPr>
            <p:ph idx="4294967295"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A99"/>
                </a:solidFill>
                <a:latin typeface="Calibri"/>
                <a:ea typeface="Calibri"/>
                <a:cs typeface="Calibri"/>
                <a:sym typeface="Calibri"/>
              </a:rPr>
              <a:t>‹#›</a:t>
            </a:fld>
            <a:endParaRPr b="0" i="0" sz="1000" u="none" cap="none" strike="noStrike">
              <a:solidFill>
                <a:srgbClr val="6B7A99"/>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1"/>
          <p:cNvSpPr txBox="1"/>
          <p:nvPr>
            <p:ph type="title"/>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Cambria"/>
              <a:buNone/>
            </a:pPr>
            <a:r>
              <a:rPr b="1" lang="en-US" sz="3000">
                <a:solidFill>
                  <a:schemeClr val="dk2"/>
                </a:solidFill>
              </a:rPr>
              <a:t>Building it in IDMC</a:t>
            </a:r>
            <a:endParaRPr sz="3000"/>
          </a:p>
        </p:txBody>
      </p:sp>
      <p:cxnSp>
        <p:nvCxnSpPr>
          <p:cNvPr id="253" name="Google Shape;253;p11"/>
          <p:cNvCxnSpPr/>
          <p:nvPr/>
        </p:nvCxnSpPr>
        <p:spPr>
          <a:xfrm>
            <a:off x="1531620" y="1691640"/>
            <a:ext cx="1042416" cy="0"/>
          </a:xfrm>
          <a:prstGeom prst="straightConnector1">
            <a:avLst/>
          </a:prstGeom>
          <a:noFill/>
          <a:ln cap="flat" cmpd="sng" w="25400">
            <a:solidFill>
              <a:schemeClr val="accent6"/>
            </a:solidFill>
            <a:prstDash val="solid"/>
            <a:round/>
            <a:headEnd len="sm" w="sm" type="none"/>
            <a:tailEnd len="sm" w="sm" type="none"/>
          </a:ln>
        </p:spPr>
      </p:cxnSp>
      <p:sp>
        <p:nvSpPr>
          <p:cNvPr id="254" name="Google Shape;254;p11"/>
          <p:cNvSpPr/>
          <p:nvPr/>
        </p:nvSpPr>
        <p:spPr>
          <a:xfrm>
            <a:off x="891540" y="1371600"/>
            <a:ext cx="640080" cy="64008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1</a:t>
            </a:r>
            <a:endParaRPr b="0" i="0" sz="2000" u="none" cap="none" strike="noStrike">
              <a:solidFill>
                <a:schemeClr val="dk1"/>
              </a:solidFill>
              <a:latin typeface="Calibri"/>
              <a:ea typeface="Calibri"/>
              <a:cs typeface="Calibri"/>
              <a:sym typeface="Calibri"/>
            </a:endParaRPr>
          </a:p>
        </p:txBody>
      </p:sp>
      <p:sp>
        <p:nvSpPr>
          <p:cNvPr id="255" name="Google Shape;255;p11"/>
          <p:cNvSpPr txBox="1"/>
          <p:nvPr/>
        </p:nvSpPr>
        <p:spPr>
          <a:xfrm>
            <a:off x="457200" y="2286000"/>
            <a:ext cx="15087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Create mapping tasks</a:t>
            </a:r>
            <a:endParaRPr b="0" i="0" sz="1600" u="none" cap="none" strike="noStrike">
              <a:solidFill>
                <a:schemeClr val="dk1"/>
              </a:solidFill>
              <a:latin typeface="Calibri"/>
              <a:ea typeface="Calibri"/>
              <a:cs typeface="Calibri"/>
              <a:sym typeface="Calibri"/>
            </a:endParaRPr>
          </a:p>
        </p:txBody>
      </p:sp>
      <p:sp>
        <p:nvSpPr>
          <p:cNvPr id="256" name="Google Shape;256;p11"/>
          <p:cNvSpPr txBox="1"/>
          <p:nvPr/>
        </p:nvSpPr>
        <p:spPr>
          <a:xfrm>
            <a:off x="457200" y="2880360"/>
            <a:ext cx="1508760" cy="13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Publish each mapping as a task in Data Integration</a:t>
            </a:r>
            <a:endParaRPr b="0" i="0" sz="1400" u="none" cap="none" strike="noStrike">
              <a:solidFill>
                <a:schemeClr val="dk1"/>
              </a:solidFill>
              <a:latin typeface="Calibri"/>
              <a:ea typeface="Calibri"/>
              <a:cs typeface="Calibri"/>
              <a:sym typeface="Calibri"/>
            </a:endParaRPr>
          </a:p>
        </p:txBody>
      </p:sp>
      <p:cxnSp>
        <p:nvCxnSpPr>
          <p:cNvPr id="257" name="Google Shape;257;p11"/>
          <p:cNvCxnSpPr/>
          <p:nvPr/>
        </p:nvCxnSpPr>
        <p:spPr>
          <a:xfrm>
            <a:off x="3214116" y="1691640"/>
            <a:ext cx="1042416" cy="0"/>
          </a:xfrm>
          <a:prstGeom prst="straightConnector1">
            <a:avLst/>
          </a:prstGeom>
          <a:noFill/>
          <a:ln cap="flat" cmpd="sng" w="25400">
            <a:solidFill>
              <a:schemeClr val="accent6"/>
            </a:solidFill>
            <a:prstDash val="solid"/>
            <a:round/>
            <a:headEnd len="sm" w="sm" type="none"/>
            <a:tailEnd len="sm" w="sm" type="none"/>
          </a:ln>
        </p:spPr>
      </p:cxnSp>
      <p:sp>
        <p:nvSpPr>
          <p:cNvPr id="258" name="Google Shape;258;p11"/>
          <p:cNvSpPr/>
          <p:nvPr/>
        </p:nvSpPr>
        <p:spPr>
          <a:xfrm>
            <a:off x="2574036" y="1371600"/>
            <a:ext cx="640080" cy="64008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2</a:t>
            </a:r>
            <a:endParaRPr b="0" i="0" sz="2000" u="none" cap="none" strike="noStrike">
              <a:solidFill>
                <a:schemeClr val="dk1"/>
              </a:solidFill>
              <a:latin typeface="Calibri"/>
              <a:ea typeface="Calibri"/>
              <a:cs typeface="Calibri"/>
              <a:sym typeface="Calibri"/>
            </a:endParaRPr>
          </a:p>
        </p:txBody>
      </p:sp>
      <p:sp>
        <p:nvSpPr>
          <p:cNvPr id="259" name="Google Shape;259;p11"/>
          <p:cNvSpPr txBox="1"/>
          <p:nvPr/>
        </p:nvSpPr>
        <p:spPr>
          <a:xfrm>
            <a:off x="2139696" y="2286000"/>
            <a:ext cx="15087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Open the designer</a:t>
            </a:r>
            <a:endParaRPr b="0" i="0" sz="1600" u="none" cap="none" strike="noStrike">
              <a:solidFill>
                <a:schemeClr val="dk1"/>
              </a:solidFill>
              <a:latin typeface="Calibri"/>
              <a:ea typeface="Calibri"/>
              <a:cs typeface="Calibri"/>
              <a:sym typeface="Calibri"/>
            </a:endParaRPr>
          </a:p>
        </p:txBody>
      </p:sp>
      <p:sp>
        <p:nvSpPr>
          <p:cNvPr id="260" name="Google Shape;260;p11"/>
          <p:cNvSpPr txBox="1"/>
          <p:nvPr/>
        </p:nvSpPr>
        <p:spPr>
          <a:xfrm>
            <a:off x="2139696" y="2880360"/>
            <a:ext cx="1508760" cy="13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New, then Taskflows, then Taskflow</a:t>
            </a:r>
            <a:endParaRPr b="0" i="0" sz="1400" u="none" cap="none" strike="noStrike">
              <a:solidFill>
                <a:schemeClr val="dk1"/>
              </a:solidFill>
              <a:latin typeface="Calibri"/>
              <a:ea typeface="Calibri"/>
              <a:cs typeface="Calibri"/>
              <a:sym typeface="Calibri"/>
            </a:endParaRPr>
          </a:p>
        </p:txBody>
      </p:sp>
      <p:cxnSp>
        <p:nvCxnSpPr>
          <p:cNvPr id="261" name="Google Shape;261;p11"/>
          <p:cNvCxnSpPr/>
          <p:nvPr/>
        </p:nvCxnSpPr>
        <p:spPr>
          <a:xfrm>
            <a:off x="4896612" y="1691640"/>
            <a:ext cx="1042416" cy="0"/>
          </a:xfrm>
          <a:prstGeom prst="straightConnector1">
            <a:avLst/>
          </a:prstGeom>
          <a:noFill/>
          <a:ln cap="flat" cmpd="sng" w="25400">
            <a:solidFill>
              <a:schemeClr val="accent6"/>
            </a:solidFill>
            <a:prstDash val="solid"/>
            <a:round/>
            <a:headEnd len="sm" w="sm" type="none"/>
            <a:tailEnd len="sm" w="sm" type="none"/>
          </a:ln>
        </p:spPr>
      </p:cxnSp>
      <p:sp>
        <p:nvSpPr>
          <p:cNvPr id="262" name="Google Shape;262;p11"/>
          <p:cNvSpPr/>
          <p:nvPr/>
        </p:nvSpPr>
        <p:spPr>
          <a:xfrm>
            <a:off x="4256532" y="1371600"/>
            <a:ext cx="640080" cy="64008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3</a:t>
            </a:r>
            <a:endParaRPr b="0" i="0" sz="2000" u="none" cap="none" strike="noStrike">
              <a:solidFill>
                <a:schemeClr val="dk1"/>
              </a:solidFill>
              <a:latin typeface="Calibri"/>
              <a:ea typeface="Calibri"/>
              <a:cs typeface="Calibri"/>
              <a:sym typeface="Calibri"/>
            </a:endParaRPr>
          </a:p>
        </p:txBody>
      </p:sp>
      <p:sp>
        <p:nvSpPr>
          <p:cNvPr id="263" name="Google Shape;263;p11"/>
          <p:cNvSpPr txBox="1"/>
          <p:nvPr/>
        </p:nvSpPr>
        <p:spPr>
          <a:xfrm>
            <a:off x="3822192" y="2286000"/>
            <a:ext cx="15087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Design the flow</a:t>
            </a:r>
            <a:endParaRPr b="0" i="0" sz="1600" u="none" cap="none" strike="noStrike">
              <a:solidFill>
                <a:schemeClr val="dk1"/>
              </a:solidFill>
              <a:latin typeface="Calibri"/>
              <a:ea typeface="Calibri"/>
              <a:cs typeface="Calibri"/>
              <a:sym typeface="Calibri"/>
            </a:endParaRPr>
          </a:p>
        </p:txBody>
      </p:sp>
      <p:sp>
        <p:nvSpPr>
          <p:cNvPr id="264" name="Google Shape;264;p11"/>
          <p:cNvSpPr txBox="1"/>
          <p:nvPr/>
        </p:nvSpPr>
        <p:spPr>
          <a:xfrm>
            <a:off x="3822192" y="2880360"/>
            <a:ext cx="1508760" cy="13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Drag Data Task, Parallel Paths, Decision, Notification</a:t>
            </a:r>
            <a:endParaRPr b="0" i="0" sz="1400" u="none" cap="none" strike="noStrike">
              <a:solidFill>
                <a:schemeClr val="dk1"/>
              </a:solidFill>
              <a:latin typeface="Calibri"/>
              <a:ea typeface="Calibri"/>
              <a:cs typeface="Calibri"/>
              <a:sym typeface="Calibri"/>
            </a:endParaRPr>
          </a:p>
        </p:txBody>
      </p:sp>
      <p:cxnSp>
        <p:nvCxnSpPr>
          <p:cNvPr id="265" name="Google Shape;265;p11"/>
          <p:cNvCxnSpPr/>
          <p:nvPr/>
        </p:nvCxnSpPr>
        <p:spPr>
          <a:xfrm>
            <a:off x="6579108" y="1691640"/>
            <a:ext cx="1042416" cy="0"/>
          </a:xfrm>
          <a:prstGeom prst="straightConnector1">
            <a:avLst/>
          </a:prstGeom>
          <a:noFill/>
          <a:ln cap="flat" cmpd="sng" w="25400">
            <a:solidFill>
              <a:schemeClr val="accent6"/>
            </a:solidFill>
            <a:prstDash val="solid"/>
            <a:round/>
            <a:headEnd len="sm" w="sm" type="none"/>
            <a:tailEnd len="sm" w="sm" type="none"/>
          </a:ln>
        </p:spPr>
      </p:cxnSp>
      <p:sp>
        <p:nvSpPr>
          <p:cNvPr id="266" name="Google Shape;266;p11"/>
          <p:cNvSpPr/>
          <p:nvPr/>
        </p:nvSpPr>
        <p:spPr>
          <a:xfrm>
            <a:off x="5939028" y="1371600"/>
            <a:ext cx="640080" cy="64008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4</a:t>
            </a:r>
            <a:endParaRPr b="0" i="0" sz="2000" u="none" cap="none" strike="noStrike">
              <a:solidFill>
                <a:schemeClr val="dk1"/>
              </a:solidFill>
              <a:latin typeface="Calibri"/>
              <a:ea typeface="Calibri"/>
              <a:cs typeface="Calibri"/>
              <a:sym typeface="Calibri"/>
            </a:endParaRPr>
          </a:p>
        </p:txBody>
      </p:sp>
      <p:sp>
        <p:nvSpPr>
          <p:cNvPr id="267" name="Google Shape;267;p11"/>
          <p:cNvSpPr txBox="1"/>
          <p:nvPr/>
        </p:nvSpPr>
        <p:spPr>
          <a:xfrm>
            <a:off x="5504688" y="2286000"/>
            <a:ext cx="15087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Save and publish</a:t>
            </a:r>
            <a:endParaRPr b="0" i="0" sz="1600" u="none" cap="none" strike="noStrike">
              <a:solidFill>
                <a:schemeClr val="dk1"/>
              </a:solidFill>
              <a:latin typeface="Calibri"/>
              <a:ea typeface="Calibri"/>
              <a:cs typeface="Calibri"/>
              <a:sym typeface="Calibri"/>
            </a:endParaRPr>
          </a:p>
        </p:txBody>
      </p:sp>
      <p:sp>
        <p:nvSpPr>
          <p:cNvPr id="268" name="Google Shape;268;p11"/>
          <p:cNvSpPr txBox="1"/>
          <p:nvPr/>
        </p:nvSpPr>
        <p:spPr>
          <a:xfrm>
            <a:off x="5504688" y="2880360"/>
            <a:ext cx="1508760" cy="13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Validate the flow, then publish it</a:t>
            </a:r>
            <a:endParaRPr b="0" i="0" sz="1400" u="none" cap="none" strike="noStrike">
              <a:solidFill>
                <a:schemeClr val="dk1"/>
              </a:solidFill>
              <a:latin typeface="Calibri"/>
              <a:ea typeface="Calibri"/>
              <a:cs typeface="Calibri"/>
              <a:sym typeface="Calibri"/>
            </a:endParaRPr>
          </a:p>
        </p:txBody>
      </p:sp>
      <p:sp>
        <p:nvSpPr>
          <p:cNvPr id="269" name="Google Shape;269;p11"/>
          <p:cNvSpPr/>
          <p:nvPr/>
        </p:nvSpPr>
        <p:spPr>
          <a:xfrm>
            <a:off x="7621524" y="1371600"/>
            <a:ext cx="640080" cy="64008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5</a:t>
            </a:r>
            <a:endParaRPr b="0" i="0" sz="2000" u="none" cap="none" strike="noStrike">
              <a:solidFill>
                <a:schemeClr val="dk1"/>
              </a:solidFill>
              <a:latin typeface="Calibri"/>
              <a:ea typeface="Calibri"/>
              <a:cs typeface="Calibri"/>
              <a:sym typeface="Calibri"/>
            </a:endParaRPr>
          </a:p>
        </p:txBody>
      </p:sp>
      <p:sp>
        <p:nvSpPr>
          <p:cNvPr id="270" name="Google Shape;270;p11"/>
          <p:cNvSpPr txBox="1"/>
          <p:nvPr/>
        </p:nvSpPr>
        <p:spPr>
          <a:xfrm>
            <a:off x="7187184" y="2286000"/>
            <a:ext cx="15087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Run and monitor</a:t>
            </a:r>
            <a:endParaRPr b="0" i="0" sz="1600" u="none" cap="none" strike="noStrike">
              <a:solidFill>
                <a:schemeClr val="dk1"/>
              </a:solidFill>
              <a:latin typeface="Calibri"/>
              <a:ea typeface="Calibri"/>
              <a:cs typeface="Calibri"/>
              <a:sym typeface="Calibri"/>
            </a:endParaRPr>
          </a:p>
        </p:txBody>
      </p:sp>
      <p:sp>
        <p:nvSpPr>
          <p:cNvPr id="271" name="Google Shape;271;p11"/>
          <p:cNvSpPr txBox="1"/>
          <p:nvPr/>
        </p:nvSpPr>
        <p:spPr>
          <a:xfrm>
            <a:off x="7187184" y="2880360"/>
            <a:ext cx="1508760" cy="13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Schedule or trigger it, then track the job in Monitor</a:t>
            </a:r>
            <a:endParaRPr b="0" i="0" sz="1400" u="none" cap="none" strike="noStrike">
              <a:solidFill>
                <a:schemeClr val="dk1"/>
              </a:solidFill>
              <a:latin typeface="Calibri"/>
              <a:ea typeface="Calibri"/>
              <a:cs typeface="Calibri"/>
              <a:sym typeface="Calibri"/>
            </a:endParaRPr>
          </a:p>
        </p:txBody>
      </p:sp>
      <p:sp>
        <p:nvSpPr>
          <p:cNvPr id="272" name="Google Shape;272;p11"/>
          <p:cNvSpPr txBox="1"/>
          <p:nvPr>
            <p:ph idx="4294967295"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A99"/>
                </a:solidFill>
                <a:latin typeface="Calibri"/>
                <a:ea typeface="Calibri"/>
                <a:cs typeface="Calibri"/>
                <a:sym typeface="Calibri"/>
              </a:rPr>
              <a:t>‹#›</a:t>
            </a:fld>
            <a:endParaRPr b="0" i="0" sz="1000" u="none" cap="none" strike="noStrike">
              <a:solidFill>
                <a:srgbClr val="6B7A99"/>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2"/>
          <p:cNvSpPr txBox="1"/>
          <p:nvPr>
            <p:ph type="title"/>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Cambria"/>
              <a:buNone/>
            </a:pPr>
            <a:r>
              <a:rPr b="1" lang="en-US" sz="3000">
                <a:solidFill>
                  <a:schemeClr val="dk2"/>
                </a:solidFill>
              </a:rPr>
              <a:t>Manual runs vs Taskflow</a:t>
            </a:r>
            <a:endParaRPr sz="3000"/>
          </a:p>
        </p:txBody>
      </p:sp>
      <p:graphicFrame>
        <p:nvGraphicFramePr>
          <p:cNvPr id="279" name="Google Shape;279;p12"/>
          <p:cNvGraphicFramePr/>
          <p:nvPr/>
        </p:nvGraphicFramePr>
        <p:xfrm>
          <a:off x="457200" y="1188720"/>
          <a:ext cx="3000000" cy="3000000"/>
        </p:xfrm>
        <a:graphic>
          <a:graphicData uri="http://schemas.openxmlformats.org/drawingml/2006/table">
            <a:tbl>
              <a:tblPr>
                <a:noFill/>
                <a:tableStyleId>{7B4C4156-9DD3-413D-AA7B-02A0B7223C47}</a:tableStyleId>
              </a:tblPr>
              <a:tblGrid>
                <a:gridCol w="1828800"/>
                <a:gridCol w="3108950"/>
                <a:gridCol w="3291850"/>
              </a:tblGrid>
              <a:tr h="475500">
                <a:tc>
                  <a:txBody>
                    <a:bodyPr/>
                    <a:lstStyle/>
                    <a:p>
                      <a:pPr indent="0" lvl="0" marL="0" marR="0" rtl="0" algn="l">
                        <a:spcBef>
                          <a:spcPts val="0"/>
                        </a:spcBef>
                        <a:spcAft>
                          <a:spcPts val="0"/>
                        </a:spcAft>
                        <a:buClr>
                          <a:schemeClr val="dk1"/>
                        </a:buClr>
                        <a:buSzPts val="1400"/>
                        <a:buFont typeface="Calibri"/>
                        <a:buNone/>
                      </a:pPr>
                      <a:r>
                        <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14213D"/>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Manual mapping tasks</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6B7A99"/>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Taskflow</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F6A13"/>
                    </a:solidFill>
                  </a:tcPr>
                </a:tc>
              </a:tr>
              <a:tr h="475500">
                <a:tc>
                  <a:txBody>
                    <a:bodyPr/>
                    <a:lstStyle/>
                    <a:p>
                      <a:pPr indent="0" lvl="0" marL="0" marR="0" rtl="0" algn="l">
                        <a:spcBef>
                          <a:spcPts val="0"/>
                        </a:spcBef>
                        <a:spcAft>
                          <a:spcPts val="0"/>
                        </a:spcAft>
                        <a:buClr>
                          <a:srgbClr val="14213D"/>
                        </a:buClr>
                        <a:buSzPts val="1400"/>
                        <a:buFont typeface="Calibri"/>
                        <a:buNone/>
                      </a:pPr>
                      <a:r>
                        <a:rPr b="1" lang="en-US" sz="1400" u="none" cap="none" strike="noStrike">
                          <a:solidFill>
                            <a:srgbClr val="14213D"/>
                          </a:solidFill>
                          <a:latin typeface="Calibri"/>
                          <a:ea typeface="Calibri"/>
                          <a:cs typeface="Calibri"/>
                          <a:sym typeface="Calibri"/>
                        </a:rPr>
                        <a:t>Start</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A person runs each task</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Schedule or file arrival</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r>
              <a:tr h="475500">
                <a:tc>
                  <a:txBody>
                    <a:bodyPr/>
                    <a:lstStyle/>
                    <a:p>
                      <a:pPr indent="0" lvl="0" marL="0" marR="0" rtl="0" algn="l">
                        <a:spcBef>
                          <a:spcPts val="0"/>
                        </a:spcBef>
                        <a:spcAft>
                          <a:spcPts val="0"/>
                        </a:spcAft>
                        <a:buClr>
                          <a:srgbClr val="14213D"/>
                        </a:buClr>
                        <a:buSzPts val="1400"/>
                        <a:buFont typeface="Calibri"/>
                        <a:buNone/>
                      </a:pPr>
                      <a:r>
                        <a:rPr b="1" lang="en-US" sz="1400" u="none" cap="none" strike="noStrike">
                          <a:solidFill>
                            <a:srgbClr val="14213D"/>
                          </a:solidFill>
                          <a:latin typeface="Calibri"/>
                          <a:ea typeface="Calibri"/>
                          <a:cs typeface="Calibri"/>
                          <a:sym typeface="Calibri"/>
                        </a:rPr>
                        <a:t>Order of tasks</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Remembered by the team</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Defined once on the canvas</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r>
              <a:tr h="475500">
                <a:tc>
                  <a:txBody>
                    <a:bodyPr/>
                    <a:lstStyle/>
                    <a:p>
                      <a:pPr indent="0" lvl="0" marL="0" marR="0" rtl="0" algn="l">
                        <a:spcBef>
                          <a:spcPts val="0"/>
                        </a:spcBef>
                        <a:spcAft>
                          <a:spcPts val="0"/>
                        </a:spcAft>
                        <a:buClr>
                          <a:srgbClr val="14213D"/>
                        </a:buClr>
                        <a:buSzPts val="1400"/>
                        <a:buFont typeface="Calibri"/>
                        <a:buNone/>
                      </a:pPr>
                      <a:r>
                        <a:rPr b="1" lang="en-US" sz="1400" u="none" cap="none" strike="noStrike">
                          <a:solidFill>
                            <a:srgbClr val="14213D"/>
                          </a:solidFill>
                          <a:latin typeface="Calibri"/>
                          <a:ea typeface="Calibri"/>
                          <a:cs typeface="Calibri"/>
                          <a:sym typeface="Calibri"/>
                        </a:rPr>
                        <a:t>Speed</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One after another</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Independent tasks in parallel</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r>
              <a:tr h="475500">
                <a:tc>
                  <a:txBody>
                    <a:bodyPr/>
                    <a:lstStyle/>
                    <a:p>
                      <a:pPr indent="0" lvl="0" marL="0" marR="0" rtl="0" algn="l">
                        <a:spcBef>
                          <a:spcPts val="0"/>
                        </a:spcBef>
                        <a:spcAft>
                          <a:spcPts val="0"/>
                        </a:spcAft>
                        <a:buClr>
                          <a:srgbClr val="14213D"/>
                        </a:buClr>
                        <a:buSzPts val="1400"/>
                        <a:buFont typeface="Calibri"/>
                        <a:buNone/>
                      </a:pPr>
                      <a:r>
                        <a:rPr b="1" lang="en-US" sz="1400" u="none" cap="none" strike="noStrike">
                          <a:solidFill>
                            <a:srgbClr val="14213D"/>
                          </a:solidFill>
                          <a:latin typeface="Calibri"/>
                          <a:ea typeface="Calibri"/>
                          <a:cs typeface="Calibri"/>
                          <a:sym typeface="Calibri"/>
                        </a:rPr>
                        <a:t>Failures</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Found by reading logs</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Decision step routes to an alert</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r>
              <a:tr h="475500">
                <a:tc>
                  <a:txBody>
                    <a:bodyPr/>
                    <a:lstStyle/>
                    <a:p>
                      <a:pPr indent="0" lvl="0" marL="0" marR="0" rtl="0" algn="l">
                        <a:spcBef>
                          <a:spcPts val="0"/>
                        </a:spcBef>
                        <a:spcAft>
                          <a:spcPts val="0"/>
                        </a:spcAft>
                        <a:buClr>
                          <a:srgbClr val="14213D"/>
                        </a:buClr>
                        <a:buSzPts val="1400"/>
                        <a:buFont typeface="Calibri"/>
                        <a:buNone/>
                      </a:pPr>
                      <a:r>
                        <a:rPr b="1" lang="en-US" sz="1400" u="none" cap="none" strike="noStrike">
                          <a:solidFill>
                            <a:srgbClr val="14213D"/>
                          </a:solidFill>
                          <a:latin typeface="Calibri"/>
                          <a:ea typeface="Calibri"/>
                          <a:cs typeface="Calibri"/>
                          <a:sym typeface="Calibri"/>
                        </a:rPr>
                        <a:t>Alerts</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Emails sent by hand</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Notification step sends them</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r>
              <a:tr h="475500">
                <a:tc>
                  <a:txBody>
                    <a:bodyPr/>
                    <a:lstStyle/>
                    <a:p>
                      <a:pPr indent="0" lvl="0" marL="0" marR="0" rtl="0" algn="l">
                        <a:spcBef>
                          <a:spcPts val="0"/>
                        </a:spcBef>
                        <a:spcAft>
                          <a:spcPts val="0"/>
                        </a:spcAft>
                        <a:buClr>
                          <a:srgbClr val="14213D"/>
                        </a:buClr>
                        <a:buSzPts val="1400"/>
                        <a:buFont typeface="Calibri"/>
                        <a:buNone/>
                      </a:pPr>
                      <a:r>
                        <a:rPr b="1" lang="en-US" sz="1400" u="none" cap="none" strike="noStrike">
                          <a:solidFill>
                            <a:srgbClr val="14213D"/>
                          </a:solidFill>
                          <a:latin typeface="Calibri"/>
                          <a:ea typeface="Calibri"/>
                          <a:cs typeface="Calibri"/>
                          <a:sym typeface="Calibri"/>
                        </a:rPr>
                        <a:t>Visibility</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Many separate jobs</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A1F36"/>
                        </a:buClr>
                        <a:buSzPts val="1400"/>
                        <a:buFont typeface="Calibri"/>
                        <a:buNone/>
                      </a:pPr>
                      <a:r>
                        <a:rPr lang="en-US" sz="1400" u="none" cap="none" strike="noStrike">
                          <a:solidFill>
                            <a:srgbClr val="1A1F36"/>
                          </a:solidFill>
                          <a:latin typeface="Calibri"/>
                          <a:ea typeface="Calibri"/>
                          <a:cs typeface="Calibri"/>
                          <a:sym typeface="Calibri"/>
                        </a:rPr>
                        <a:t>One flow, one status</a:t>
                      </a:r>
                      <a:endParaRPr sz="1400" u="none" cap="none" strike="noStrike">
                        <a:latin typeface="Calibri"/>
                        <a:ea typeface="Calibri"/>
                        <a:cs typeface="Calibri"/>
                        <a:sym typeface="Calibri"/>
                      </a:endParaRPr>
                    </a:p>
                  </a:txBody>
                  <a:tcPr marT="0" marB="0" marR="109725" marL="109725" anchor="ctr">
                    <a:lnL cap="flat" cmpd="sng" w="9525">
                      <a:solidFill>
                        <a:srgbClr val="D5DAE5"/>
                      </a:solidFill>
                      <a:prstDash val="solid"/>
                      <a:round/>
                      <a:headEnd len="sm" w="sm" type="none"/>
                      <a:tailEnd len="sm" w="sm" type="none"/>
                    </a:lnL>
                    <a:lnR cap="flat" cmpd="sng" w="9525">
                      <a:solidFill>
                        <a:srgbClr val="D5DAE5"/>
                      </a:solidFill>
                      <a:prstDash val="solid"/>
                      <a:round/>
                      <a:headEnd len="sm" w="sm" type="none"/>
                      <a:tailEnd len="sm" w="sm" type="none"/>
                    </a:lnR>
                    <a:lnT cap="flat" cmpd="sng" w="9525">
                      <a:solidFill>
                        <a:srgbClr val="D5DAE5"/>
                      </a:solidFill>
                      <a:prstDash val="solid"/>
                      <a:round/>
                      <a:headEnd len="sm" w="sm" type="none"/>
                      <a:tailEnd len="sm" w="sm" type="none"/>
                    </a:lnT>
                    <a:lnB cap="flat" cmpd="sng" w="9525">
                      <a:solidFill>
                        <a:srgbClr val="D5DAE5"/>
                      </a:solidFill>
                      <a:prstDash val="solid"/>
                      <a:round/>
                      <a:headEnd len="sm" w="sm" type="none"/>
                      <a:tailEnd len="sm" w="sm" type="none"/>
                    </a:lnB>
                    <a:solidFill>
                      <a:srgbClr val="F3F5F9"/>
                    </a:solidFill>
                  </a:tcPr>
                </a:tc>
              </a:tr>
            </a:tbl>
          </a:graphicData>
        </a:graphic>
      </p:graphicFrame>
      <p:sp>
        <p:nvSpPr>
          <p:cNvPr id="280" name="Google Shape;280;p12"/>
          <p:cNvSpPr txBox="1"/>
          <p:nvPr>
            <p:ph idx="4294967295"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A99"/>
                </a:solidFill>
                <a:latin typeface="Calibri"/>
                <a:ea typeface="Calibri"/>
                <a:cs typeface="Calibri"/>
                <a:sym typeface="Calibri"/>
              </a:rPr>
              <a:t>‹#›</a:t>
            </a:fld>
            <a:endParaRPr b="0" i="0" sz="1000" u="none" cap="none" strike="noStrike">
              <a:solidFill>
                <a:srgbClr val="6B7A99"/>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3"/>
          <p:cNvSpPr txBox="1"/>
          <p:nvPr>
            <p:ph type="title"/>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000"/>
              <a:buFont typeface="Cambria"/>
              <a:buNone/>
            </a:pPr>
            <a:r>
              <a:rPr b="1" lang="en-US" sz="3000">
                <a:solidFill>
                  <a:schemeClr val="dk2"/>
                </a:solidFill>
              </a:rPr>
              <a:t>Advantages of using Taskflow</a:t>
            </a:r>
            <a:endParaRPr sz="3000"/>
          </a:p>
        </p:txBody>
      </p:sp>
      <p:sp>
        <p:nvSpPr>
          <p:cNvPr id="287" name="Google Shape;287;p13"/>
          <p:cNvSpPr/>
          <p:nvPr/>
        </p:nvSpPr>
        <p:spPr>
          <a:xfrm>
            <a:off x="457200" y="1188720"/>
            <a:ext cx="2560320" cy="1645920"/>
          </a:xfrm>
          <a:prstGeom prst="roundRect">
            <a:avLst>
              <a:gd fmla="val 666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3"/>
          <p:cNvSpPr/>
          <p:nvPr/>
        </p:nvSpPr>
        <p:spPr>
          <a:xfrm>
            <a:off x="594360" y="1325880"/>
            <a:ext cx="502920" cy="50292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9" name="Google Shape;289;p13"/>
          <p:cNvPicPr preferRelativeResize="0"/>
          <p:nvPr/>
        </p:nvPicPr>
        <p:blipFill rotWithShape="1">
          <a:blip r:embed="rId3">
            <a:alphaModFix/>
          </a:blip>
          <a:srcRect b="0" l="0" r="0" t="0"/>
          <a:stretch/>
        </p:blipFill>
        <p:spPr>
          <a:xfrm>
            <a:off x="720090" y="1451610"/>
            <a:ext cx="251460" cy="251460"/>
          </a:xfrm>
          <a:prstGeom prst="rect">
            <a:avLst/>
          </a:prstGeom>
          <a:noFill/>
          <a:ln>
            <a:noFill/>
          </a:ln>
        </p:spPr>
      </p:pic>
      <p:sp>
        <p:nvSpPr>
          <p:cNvPr id="290" name="Google Shape;290;p13"/>
          <p:cNvSpPr txBox="1"/>
          <p:nvPr/>
        </p:nvSpPr>
        <p:spPr>
          <a:xfrm>
            <a:off x="1234440" y="1325880"/>
            <a:ext cx="1691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Full automation</a:t>
            </a:r>
            <a:endParaRPr b="0" i="0" sz="1600" u="none" cap="none" strike="noStrike">
              <a:solidFill>
                <a:schemeClr val="dk1"/>
              </a:solidFill>
              <a:latin typeface="Calibri"/>
              <a:ea typeface="Calibri"/>
              <a:cs typeface="Calibri"/>
              <a:sym typeface="Calibri"/>
            </a:endParaRPr>
          </a:p>
        </p:txBody>
      </p:sp>
      <p:sp>
        <p:nvSpPr>
          <p:cNvPr id="291" name="Google Shape;291;p13"/>
          <p:cNvSpPr txBox="1"/>
          <p:nvPr/>
        </p:nvSpPr>
        <p:spPr>
          <a:xfrm>
            <a:off x="594360" y="2011680"/>
            <a:ext cx="22860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Runs on a schedule or an event with no manual clicks</a:t>
            </a:r>
            <a:endParaRPr b="0" i="0" sz="1400" u="none" cap="none" strike="noStrike">
              <a:solidFill>
                <a:schemeClr val="dk1"/>
              </a:solidFill>
              <a:latin typeface="Calibri"/>
              <a:ea typeface="Calibri"/>
              <a:cs typeface="Calibri"/>
              <a:sym typeface="Calibri"/>
            </a:endParaRPr>
          </a:p>
        </p:txBody>
      </p:sp>
      <p:sp>
        <p:nvSpPr>
          <p:cNvPr id="292" name="Google Shape;292;p13"/>
          <p:cNvSpPr/>
          <p:nvPr/>
        </p:nvSpPr>
        <p:spPr>
          <a:xfrm>
            <a:off x="3291840" y="1188720"/>
            <a:ext cx="2560320" cy="1645920"/>
          </a:xfrm>
          <a:prstGeom prst="roundRect">
            <a:avLst>
              <a:gd fmla="val 666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3429000" y="1325880"/>
            <a:ext cx="502920" cy="50292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4" name="Google Shape;294;p13"/>
          <p:cNvPicPr preferRelativeResize="0"/>
          <p:nvPr/>
        </p:nvPicPr>
        <p:blipFill rotWithShape="1">
          <a:blip r:embed="rId4">
            <a:alphaModFix/>
          </a:blip>
          <a:srcRect b="0" l="0" r="0" t="0"/>
          <a:stretch/>
        </p:blipFill>
        <p:spPr>
          <a:xfrm>
            <a:off x="3554730" y="1451610"/>
            <a:ext cx="251460" cy="251460"/>
          </a:xfrm>
          <a:prstGeom prst="rect">
            <a:avLst/>
          </a:prstGeom>
          <a:noFill/>
          <a:ln>
            <a:noFill/>
          </a:ln>
        </p:spPr>
      </p:pic>
      <p:sp>
        <p:nvSpPr>
          <p:cNvPr id="295" name="Google Shape;295;p13"/>
          <p:cNvSpPr txBox="1"/>
          <p:nvPr/>
        </p:nvSpPr>
        <p:spPr>
          <a:xfrm>
            <a:off x="4069080" y="1325880"/>
            <a:ext cx="1691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Parallel speed</a:t>
            </a:r>
            <a:endParaRPr b="0" i="0" sz="1600" u="none" cap="none" strike="noStrike">
              <a:solidFill>
                <a:schemeClr val="dk1"/>
              </a:solidFill>
              <a:latin typeface="Calibri"/>
              <a:ea typeface="Calibri"/>
              <a:cs typeface="Calibri"/>
              <a:sym typeface="Calibri"/>
            </a:endParaRPr>
          </a:p>
        </p:txBody>
      </p:sp>
      <p:sp>
        <p:nvSpPr>
          <p:cNvPr id="296" name="Google Shape;296;p13"/>
          <p:cNvSpPr txBox="1"/>
          <p:nvPr/>
        </p:nvSpPr>
        <p:spPr>
          <a:xfrm>
            <a:off x="3429000" y="2011680"/>
            <a:ext cx="22860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JSON, XML and CSV loads run together and finish sooner</a:t>
            </a:r>
            <a:endParaRPr b="0" i="0" sz="1400" u="none" cap="none" strike="noStrike">
              <a:solidFill>
                <a:schemeClr val="dk1"/>
              </a:solidFill>
              <a:latin typeface="Calibri"/>
              <a:ea typeface="Calibri"/>
              <a:cs typeface="Calibri"/>
              <a:sym typeface="Calibri"/>
            </a:endParaRPr>
          </a:p>
        </p:txBody>
      </p:sp>
      <p:sp>
        <p:nvSpPr>
          <p:cNvPr id="297" name="Google Shape;297;p13"/>
          <p:cNvSpPr/>
          <p:nvPr/>
        </p:nvSpPr>
        <p:spPr>
          <a:xfrm>
            <a:off x="6126480" y="1188720"/>
            <a:ext cx="2560320" cy="1645920"/>
          </a:xfrm>
          <a:prstGeom prst="roundRect">
            <a:avLst>
              <a:gd fmla="val 666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p:nvPr/>
        </p:nvSpPr>
        <p:spPr>
          <a:xfrm>
            <a:off x="6263640" y="1325880"/>
            <a:ext cx="502920" cy="50292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9" name="Google Shape;299;p13"/>
          <p:cNvPicPr preferRelativeResize="0"/>
          <p:nvPr/>
        </p:nvPicPr>
        <p:blipFill rotWithShape="1">
          <a:blip r:embed="rId5">
            <a:alphaModFix/>
          </a:blip>
          <a:srcRect b="0" l="0" r="0" t="0"/>
          <a:stretch/>
        </p:blipFill>
        <p:spPr>
          <a:xfrm>
            <a:off x="6389370" y="1451610"/>
            <a:ext cx="251460" cy="251460"/>
          </a:xfrm>
          <a:prstGeom prst="rect">
            <a:avLst/>
          </a:prstGeom>
          <a:noFill/>
          <a:ln>
            <a:noFill/>
          </a:ln>
        </p:spPr>
      </p:pic>
      <p:sp>
        <p:nvSpPr>
          <p:cNvPr id="300" name="Google Shape;300;p13"/>
          <p:cNvSpPr txBox="1"/>
          <p:nvPr/>
        </p:nvSpPr>
        <p:spPr>
          <a:xfrm>
            <a:off x="6903720" y="1325880"/>
            <a:ext cx="1691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Alerts and recovery</a:t>
            </a:r>
            <a:endParaRPr b="0" i="0" sz="1600" u="none" cap="none" strike="noStrike">
              <a:solidFill>
                <a:schemeClr val="dk1"/>
              </a:solidFill>
              <a:latin typeface="Calibri"/>
              <a:ea typeface="Calibri"/>
              <a:cs typeface="Calibri"/>
              <a:sym typeface="Calibri"/>
            </a:endParaRPr>
          </a:p>
        </p:txBody>
      </p:sp>
      <p:sp>
        <p:nvSpPr>
          <p:cNvPr id="301" name="Google Shape;301;p13"/>
          <p:cNvSpPr txBox="1"/>
          <p:nvPr/>
        </p:nvSpPr>
        <p:spPr>
          <a:xfrm>
            <a:off x="6263640" y="2011680"/>
            <a:ext cx="22860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Failures trigger emails and clear next actions</a:t>
            </a:r>
            <a:endParaRPr b="0" i="0" sz="1400" u="none" cap="none" strike="noStrike">
              <a:solidFill>
                <a:schemeClr val="dk1"/>
              </a:solidFill>
              <a:latin typeface="Calibri"/>
              <a:ea typeface="Calibri"/>
              <a:cs typeface="Calibri"/>
              <a:sym typeface="Calibri"/>
            </a:endParaRPr>
          </a:p>
        </p:txBody>
      </p:sp>
      <p:sp>
        <p:nvSpPr>
          <p:cNvPr id="302" name="Google Shape;302;p13"/>
          <p:cNvSpPr/>
          <p:nvPr/>
        </p:nvSpPr>
        <p:spPr>
          <a:xfrm>
            <a:off x="457200" y="2971800"/>
            <a:ext cx="2560320" cy="1645920"/>
          </a:xfrm>
          <a:prstGeom prst="roundRect">
            <a:avLst>
              <a:gd fmla="val 666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
          <p:cNvSpPr/>
          <p:nvPr/>
        </p:nvSpPr>
        <p:spPr>
          <a:xfrm>
            <a:off x="594360" y="3108960"/>
            <a:ext cx="502920" cy="50292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4" name="Google Shape;304;p13"/>
          <p:cNvPicPr preferRelativeResize="0"/>
          <p:nvPr/>
        </p:nvPicPr>
        <p:blipFill rotWithShape="1">
          <a:blip r:embed="rId6">
            <a:alphaModFix/>
          </a:blip>
          <a:srcRect b="0" l="0" r="0" t="0"/>
          <a:stretch/>
        </p:blipFill>
        <p:spPr>
          <a:xfrm>
            <a:off x="720090" y="3234690"/>
            <a:ext cx="251460" cy="251460"/>
          </a:xfrm>
          <a:prstGeom prst="rect">
            <a:avLst/>
          </a:prstGeom>
          <a:noFill/>
          <a:ln>
            <a:noFill/>
          </a:ln>
        </p:spPr>
      </p:pic>
      <p:sp>
        <p:nvSpPr>
          <p:cNvPr id="305" name="Google Shape;305;p13"/>
          <p:cNvSpPr txBox="1"/>
          <p:nvPr/>
        </p:nvSpPr>
        <p:spPr>
          <a:xfrm>
            <a:off x="1234440" y="3108960"/>
            <a:ext cx="1691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Logic and decisions</a:t>
            </a:r>
            <a:endParaRPr b="0" i="0" sz="1600" u="none" cap="none" strike="noStrike">
              <a:solidFill>
                <a:schemeClr val="dk1"/>
              </a:solidFill>
              <a:latin typeface="Calibri"/>
              <a:ea typeface="Calibri"/>
              <a:cs typeface="Calibri"/>
              <a:sym typeface="Calibri"/>
            </a:endParaRPr>
          </a:p>
        </p:txBody>
      </p:sp>
      <p:sp>
        <p:nvSpPr>
          <p:cNvPr id="306" name="Google Shape;306;p13"/>
          <p:cNvSpPr txBox="1"/>
          <p:nvPr/>
        </p:nvSpPr>
        <p:spPr>
          <a:xfrm>
            <a:off x="594360" y="3794760"/>
            <a:ext cx="22860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Branch on row counts, status or field values</a:t>
            </a:r>
            <a:endParaRPr b="0" i="0" sz="1400" u="none" cap="none" strike="noStrike">
              <a:solidFill>
                <a:schemeClr val="dk1"/>
              </a:solidFill>
              <a:latin typeface="Calibri"/>
              <a:ea typeface="Calibri"/>
              <a:cs typeface="Calibri"/>
              <a:sym typeface="Calibri"/>
            </a:endParaRPr>
          </a:p>
        </p:txBody>
      </p:sp>
      <p:sp>
        <p:nvSpPr>
          <p:cNvPr id="307" name="Google Shape;307;p13"/>
          <p:cNvSpPr/>
          <p:nvPr/>
        </p:nvSpPr>
        <p:spPr>
          <a:xfrm>
            <a:off x="3291840" y="2971800"/>
            <a:ext cx="2560320" cy="1645920"/>
          </a:xfrm>
          <a:prstGeom prst="roundRect">
            <a:avLst>
              <a:gd fmla="val 666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3"/>
          <p:cNvSpPr/>
          <p:nvPr/>
        </p:nvSpPr>
        <p:spPr>
          <a:xfrm>
            <a:off x="3429000" y="3108960"/>
            <a:ext cx="502920" cy="50292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9" name="Google Shape;309;p13"/>
          <p:cNvPicPr preferRelativeResize="0"/>
          <p:nvPr/>
        </p:nvPicPr>
        <p:blipFill rotWithShape="1">
          <a:blip r:embed="rId7">
            <a:alphaModFix/>
          </a:blip>
          <a:srcRect b="0" l="0" r="0" t="0"/>
          <a:stretch/>
        </p:blipFill>
        <p:spPr>
          <a:xfrm>
            <a:off x="3554730" y="3234690"/>
            <a:ext cx="251460" cy="251460"/>
          </a:xfrm>
          <a:prstGeom prst="rect">
            <a:avLst/>
          </a:prstGeom>
          <a:noFill/>
          <a:ln>
            <a:noFill/>
          </a:ln>
        </p:spPr>
      </p:pic>
      <p:sp>
        <p:nvSpPr>
          <p:cNvPr id="310" name="Google Shape;310;p13"/>
          <p:cNvSpPr txBox="1"/>
          <p:nvPr/>
        </p:nvSpPr>
        <p:spPr>
          <a:xfrm>
            <a:off x="4069080" y="3108960"/>
            <a:ext cx="1691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Reusable flows</a:t>
            </a:r>
            <a:endParaRPr b="0" i="0" sz="1600" u="none" cap="none" strike="noStrike">
              <a:solidFill>
                <a:schemeClr val="dk1"/>
              </a:solidFill>
              <a:latin typeface="Calibri"/>
              <a:ea typeface="Calibri"/>
              <a:cs typeface="Calibri"/>
              <a:sym typeface="Calibri"/>
            </a:endParaRPr>
          </a:p>
        </p:txBody>
      </p:sp>
      <p:sp>
        <p:nvSpPr>
          <p:cNvPr id="311" name="Google Shape;311;p13"/>
          <p:cNvSpPr txBox="1"/>
          <p:nvPr/>
        </p:nvSpPr>
        <p:spPr>
          <a:xfrm>
            <a:off x="3429000" y="3794760"/>
            <a:ext cx="22860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Call one taskflow inside another as a subtaskflow</a:t>
            </a:r>
            <a:endParaRPr b="0" i="0" sz="1400" u="none" cap="none" strike="noStrike">
              <a:solidFill>
                <a:schemeClr val="dk1"/>
              </a:solidFill>
              <a:latin typeface="Calibri"/>
              <a:ea typeface="Calibri"/>
              <a:cs typeface="Calibri"/>
              <a:sym typeface="Calibri"/>
            </a:endParaRPr>
          </a:p>
        </p:txBody>
      </p:sp>
      <p:sp>
        <p:nvSpPr>
          <p:cNvPr id="312" name="Google Shape;312;p13"/>
          <p:cNvSpPr/>
          <p:nvPr/>
        </p:nvSpPr>
        <p:spPr>
          <a:xfrm>
            <a:off x="6126480" y="2971800"/>
            <a:ext cx="2560320" cy="1645920"/>
          </a:xfrm>
          <a:prstGeom prst="roundRect">
            <a:avLst>
              <a:gd fmla="val 666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
          <p:cNvSpPr/>
          <p:nvPr/>
        </p:nvSpPr>
        <p:spPr>
          <a:xfrm>
            <a:off x="6263640" y="3108960"/>
            <a:ext cx="502920" cy="502920"/>
          </a:xfrm>
          <a:prstGeom prst="ellipse">
            <a:avLst/>
          </a:prstGeom>
          <a:solidFill>
            <a:srgbClr val="FF6A13"/>
          </a:solidFill>
          <a:ln cap="flat" cmpd="sng" w="12700">
            <a:solidFill>
              <a:srgbClr val="FF6A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4" name="Google Shape;314;p13"/>
          <p:cNvPicPr preferRelativeResize="0"/>
          <p:nvPr/>
        </p:nvPicPr>
        <p:blipFill rotWithShape="1">
          <a:blip r:embed="rId8">
            <a:alphaModFix/>
          </a:blip>
          <a:srcRect b="0" l="0" r="0" t="0"/>
          <a:stretch/>
        </p:blipFill>
        <p:spPr>
          <a:xfrm>
            <a:off x="6389370" y="3234690"/>
            <a:ext cx="251460" cy="251460"/>
          </a:xfrm>
          <a:prstGeom prst="rect">
            <a:avLst/>
          </a:prstGeom>
          <a:noFill/>
          <a:ln>
            <a:noFill/>
          </a:ln>
        </p:spPr>
      </p:pic>
      <p:sp>
        <p:nvSpPr>
          <p:cNvPr id="315" name="Google Shape;315;p13"/>
          <p:cNvSpPr txBox="1"/>
          <p:nvPr/>
        </p:nvSpPr>
        <p:spPr>
          <a:xfrm>
            <a:off x="6903720" y="3108960"/>
            <a:ext cx="1691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One monitoring view</a:t>
            </a:r>
            <a:endParaRPr b="0" i="0" sz="1600" u="none" cap="none" strike="noStrike">
              <a:solidFill>
                <a:schemeClr val="dk1"/>
              </a:solidFill>
              <a:latin typeface="Calibri"/>
              <a:ea typeface="Calibri"/>
              <a:cs typeface="Calibri"/>
              <a:sym typeface="Calibri"/>
            </a:endParaRPr>
          </a:p>
        </p:txBody>
      </p:sp>
      <p:sp>
        <p:nvSpPr>
          <p:cNvPr id="316" name="Google Shape;316;p13"/>
          <p:cNvSpPr txBox="1"/>
          <p:nvPr/>
        </p:nvSpPr>
        <p:spPr>
          <a:xfrm>
            <a:off x="6263640" y="3794760"/>
            <a:ext cx="22860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Track the whole order pipeline as a single job</a:t>
            </a:r>
            <a:endParaRPr b="0" i="0" sz="1400" u="none" cap="none" strike="noStrike">
              <a:solidFill>
                <a:schemeClr val="dk1"/>
              </a:solidFill>
              <a:latin typeface="Calibri"/>
              <a:ea typeface="Calibri"/>
              <a:cs typeface="Calibri"/>
              <a:sym typeface="Calibri"/>
            </a:endParaRPr>
          </a:p>
        </p:txBody>
      </p:sp>
      <p:sp>
        <p:nvSpPr>
          <p:cNvPr id="317" name="Google Shape;317;p13"/>
          <p:cNvSpPr txBox="1"/>
          <p:nvPr>
            <p:ph idx="4294967295"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6B7A99"/>
                </a:solidFill>
                <a:latin typeface="Calibri"/>
                <a:ea typeface="Calibri"/>
                <a:cs typeface="Calibri"/>
                <a:sym typeface="Calibri"/>
              </a:rPr>
              <a:t>‹#›</a:t>
            </a:fld>
            <a:endParaRPr b="0" i="0" sz="1000" u="none" cap="none" strike="noStrike">
              <a:solidFill>
                <a:srgbClr val="6B7A99"/>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4"/>
          <p:cNvSpPr txBox="1"/>
          <p:nvPr>
            <p:ph type="title"/>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000"/>
              <a:buFont typeface="Cambria"/>
              <a:buNone/>
            </a:pPr>
            <a:r>
              <a:rPr b="1" lang="en-US" sz="3000">
                <a:solidFill>
                  <a:schemeClr val="lt1"/>
                </a:solidFill>
              </a:rPr>
              <a:t>Why Taskflow is necessary</a:t>
            </a:r>
            <a:endParaRPr sz="3000"/>
          </a:p>
        </p:txBody>
      </p:sp>
      <p:sp>
        <p:nvSpPr>
          <p:cNvPr id="324" name="Google Shape;324;p14"/>
          <p:cNvSpPr/>
          <p:nvPr/>
        </p:nvSpPr>
        <p:spPr>
          <a:xfrm>
            <a:off x="457200" y="1188720"/>
            <a:ext cx="4023360" cy="1280160"/>
          </a:xfrm>
          <a:prstGeom prst="roundRect">
            <a:avLst>
              <a:gd fmla="val 8571" name="adj"/>
            </a:avLst>
          </a:prstGeom>
          <a:solidFill>
            <a:srgbClr val="1F2F57"/>
          </a:solidFill>
          <a:ln cap="flat" cmpd="sng" w="12700">
            <a:solidFill>
              <a:srgbClr val="1F2F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4"/>
          <p:cNvSpPr txBox="1"/>
          <p:nvPr/>
        </p:nvSpPr>
        <p:spPr>
          <a:xfrm>
            <a:off x="640080" y="1325880"/>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Calibri"/>
              <a:buNone/>
            </a:pPr>
            <a:r>
              <a:rPr b="1" i="0" lang="en-US" sz="1700" u="none" cap="none" strike="noStrike">
                <a:solidFill>
                  <a:schemeClr val="lt1"/>
                </a:solidFill>
                <a:latin typeface="Calibri"/>
                <a:ea typeface="Calibri"/>
                <a:cs typeface="Calibri"/>
                <a:sym typeface="Calibri"/>
              </a:rPr>
              <a:t>Tasks depend on each other</a:t>
            </a:r>
            <a:endParaRPr b="0" i="0" sz="1700" u="none" cap="none" strike="noStrike">
              <a:solidFill>
                <a:schemeClr val="dk1"/>
              </a:solidFill>
              <a:latin typeface="Calibri"/>
              <a:ea typeface="Calibri"/>
              <a:cs typeface="Calibri"/>
              <a:sym typeface="Calibri"/>
            </a:endParaRPr>
          </a:p>
        </p:txBody>
      </p:sp>
      <p:sp>
        <p:nvSpPr>
          <p:cNvPr id="326" name="Google Shape;326;p14"/>
          <p:cNvSpPr txBox="1"/>
          <p:nvPr/>
        </p:nvSpPr>
        <p:spPr>
          <a:xfrm>
            <a:off x="640080" y="1737360"/>
            <a:ext cx="3657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Output feeds need the merged orders first. A taskflow enforces that order.</a:t>
            </a:r>
            <a:endParaRPr b="0" i="0" sz="1400" u="none" cap="none" strike="noStrike">
              <a:solidFill>
                <a:schemeClr val="dk1"/>
              </a:solidFill>
              <a:latin typeface="Calibri"/>
              <a:ea typeface="Calibri"/>
              <a:cs typeface="Calibri"/>
              <a:sym typeface="Calibri"/>
            </a:endParaRPr>
          </a:p>
        </p:txBody>
      </p:sp>
      <p:sp>
        <p:nvSpPr>
          <p:cNvPr id="327" name="Google Shape;327;p14"/>
          <p:cNvSpPr/>
          <p:nvPr/>
        </p:nvSpPr>
        <p:spPr>
          <a:xfrm>
            <a:off x="4663440" y="1188720"/>
            <a:ext cx="4023360" cy="1280160"/>
          </a:xfrm>
          <a:prstGeom prst="roundRect">
            <a:avLst>
              <a:gd fmla="val 8571" name="adj"/>
            </a:avLst>
          </a:prstGeom>
          <a:solidFill>
            <a:srgbClr val="1F2F57"/>
          </a:solidFill>
          <a:ln cap="flat" cmpd="sng" w="12700">
            <a:solidFill>
              <a:srgbClr val="1F2F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4"/>
          <p:cNvSpPr txBox="1"/>
          <p:nvPr/>
        </p:nvSpPr>
        <p:spPr>
          <a:xfrm>
            <a:off x="4846320" y="1325880"/>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Calibri"/>
              <a:buNone/>
            </a:pPr>
            <a:r>
              <a:rPr b="1" i="0" lang="en-US" sz="1700" u="none" cap="none" strike="noStrike">
                <a:solidFill>
                  <a:schemeClr val="lt1"/>
                </a:solidFill>
                <a:latin typeface="Calibri"/>
                <a:ea typeface="Calibri"/>
                <a:cs typeface="Calibri"/>
                <a:sym typeface="Calibri"/>
              </a:rPr>
              <a:t>Partners cannot wait</a:t>
            </a:r>
            <a:endParaRPr b="0" i="0" sz="1700" u="none" cap="none" strike="noStrike">
              <a:solidFill>
                <a:schemeClr val="dk1"/>
              </a:solidFill>
              <a:latin typeface="Calibri"/>
              <a:ea typeface="Calibri"/>
              <a:cs typeface="Calibri"/>
              <a:sym typeface="Calibri"/>
            </a:endParaRPr>
          </a:p>
        </p:txBody>
      </p:sp>
      <p:sp>
        <p:nvSpPr>
          <p:cNvPr id="329" name="Google Shape;329;p14"/>
          <p:cNvSpPr txBox="1"/>
          <p:nvPr/>
        </p:nvSpPr>
        <p:spPr>
          <a:xfrm>
            <a:off x="4846320" y="1737360"/>
            <a:ext cx="3657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Sellers and delivery partners need their data on time, every time.</a:t>
            </a:r>
            <a:endParaRPr b="0" i="0" sz="1400" u="none" cap="none" strike="noStrike">
              <a:solidFill>
                <a:schemeClr val="dk1"/>
              </a:solidFill>
              <a:latin typeface="Calibri"/>
              <a:ea typeface="Calibri"/>
              <a:cs typeface="Calibri"/>
              <a:sym typeface="Calibri"/>
            </a:endParaRPr>
          </a:p>
        </p:txBody>
      </p:sp>
      <p:sp>
        <p:nvSpPr>
          <p:cNvPr id="330" name="Google Shape;330;p14"/>
          <p:cNvSpPr/>
          <p:nvPr/>
        </p:nvSpPr>
        <p:spPr>
          <a:xfrm>
            <a:off x="457200" y="2606040"/>
            <a:ext cx="4023360" cy="1280160"/>
          </a:xfrm>
          <a:prstGeom prst="roundRect">
            <a:avLst>
              <a:gd fmla="val 8571" name="adj"/>
            </a:avLst>
          </a:prstGeom>
          <a:solidFill>
            <a:srgbClr val="1F2F57"/>
          </a:solidFill>
          <a:ln cap="flat" cmpd="sng" w="12700">
            <a:solidFill>
              <a:srgbClr val="1F2F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4"/>
          <p:cNvSpPr txBox="1"/>
          <p:nvPr/>
        </p:nvSpPr>
        <p:spPr>
          <a:xfrm>
            <a:off x="640080" y="2743200"/>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Calibri"/>
              <a:buNone/>
            </a:pPr>
            <a:r>
              <a:rPr b="1" i="0" lang="en-US" sz="1700" u="none" cap="none" strike="noStrike">
                <a:solidFill>
                  <a:schemeClr val="lt1"/>
                </a:solidFill>
                <a:latin typeface="Calibri"/>
                <a:ea typeface="Calibri"/>
                <a:cs typeface="Calibri"/>
                <a:sym typeface="Calibri"/>
              </a:rPr>
              <a:t>Failures must be caught fast</a:t>
            </a:r>
            <a:endParaRPr b="0" i="0" sz="1700" u="none" cap="none" strike="noStrike">
              <a:solidFill>
                <a:schemeClr val="dk1"/>
              </a:solidFill>
              <a:latin typeface="Calibri"/>
              <a:ea typeface="Calibri"/>
              <a:cs typeface="Calibri"/>
              <a:sym typeface="Calibri"/>
            </a:endParaRPr>
          </a:p>
        </p:txBody>
      </p:sp>
      <p:sp>
        <p:nvSpPr>
          <p:cNvPr id="332" name="Google Shape;332;p14"/>
          <p:cNvSpPr txBox="1"/>
          <p:nvPr/>
        </p:nvSpPr>
        <p:spPr>
          <a:xfrm>
            <a:off x="640080" y="3154680"/>
            <a:ext cx="3657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Automatic decisions and alerts protect every order.</a:t>
            </a:r>
            <a:endParaRPr b="0" i="0" sz="1400" u="none" cap="none" strike="noStrike">
              <a:solidFill>
                <a:schemeClr val="dk1"/>
              </a:solidFill>
              <a:latin typeface="Calibri"/>
              <a:ea typeface="Calibri"/>
              <a:cs typeface="Calibri"/>
              <a:sym typeface="Calibri"/>
            </a:endParaRPr>
          </a:p>
        </p:txBody>
      </p:sp>
      <p:sp>
        <p:nvSpPr>
          <p:cNvPr id="333" name="Google Shape;333;p14"/>
          <p:cNvSpPr/>
          <p:nvPr/>
        </p:nvSpPr>
        <p:spPr>
          <a:xfrm>
            <a:off x="4663440" y="2606040"/>
            <a:ext cx="4023360" cy="1280160"/>
          </a:xfrm>
          <a:prstGeom prst="roundRect">
            <a:avLst>
              <a:gd fmla="val 8571" name="adj"/>
            </a:avLst>
          </a:prstGeom>
          <a:solidFill>
            <a:srgbClr val="1F2F57"/>
          </a:solidFill>
          <a:ln cap="flat" cmpd="sng" w="12700">
            <a:solidFill>
              <a:srgbClr val="1F2F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4"/>
          <p:cNvSpPr txBox="1"/>
          <p:nvPr/>
        </p:nvSpPr>
        <p:spPr>
          <a:xfrm>
            <a:off x="4846320" y="2743200"/>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Calibri"/>
              <a:buNone/>
            </a:pPr>
            <a:r>
              <a:rPr b="1" i="0" lang="en-US" sz="1700" u="none" cap="none" strike="noStrike">
                <a:solidFill>
                  <a:schemeClr val="lt1"/>
                </a:solidFill>
                <a:latin typeface="Calibri"/>
                <a:ea typeface="Calibri"/>
                <a:cs typeface="Calibri"/>
                <a:sym typeface="Calibri"/>
              </a:rPr>
              <a:t>Volume keeps growing</a:t>
            </a:r>
            <a:endParaRPr b="0" i="0" sz="1700" u="none" cap="none" strike="noStrike">
              <a:solidFill>
                <a:schemeClr val="dk1"/>
              </a:solidFill>
              <a:latin typeface="Calibri"/>
              <a:ea typeface="Calibri"/>
              <a:cs typeface="Calibri"/>
              <a:sym typeface="Calibri"/>
            </a:endParaRPr>
          </a:p>
        </p:txBody>
      </p:sp>
      <p:sp>
        <p:nvSpPr>
          <p:cNvPr id="335" name="Google Shape;335;p14"/>
          <p:cNvSpPr txBox="1"/>
          <p:nvPr/>
        </p:nvSpPr>
        <p:spPr>
          <a:xfrm>
            <a:off x="4846320" y="3154680"/>
            <a:ext cx="3657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ADCFC"/>
              </a:buClr>
              <a:buSzPts val="1400"/>
              <a:buFont typeface="Calibri"/>
              <a:buNone/>
            </a:pPr>
            <a:r>
              <a:rPr b="0" i="0" lang="en-US" sz="1400" u="none" cap="none" strike="noStrike">
                <a:solidFill>
                  <a:srgbClr val="CADCFC"/>
                </a:solidFill>
                <a:latin typeface="Calibri"/>
                <a:ea typeface="Calibri"/>
                <a:cs typeface="Calibri"/>
                <a:sym typeface="Calibri"/>
              </a:rPr>
              <a:t>More sources and sellers mean more tasks; manual runs do not scale.</a:t>
            </a:r>
            <a:endParaRPr b="0" i="0" sz="1400" u="none" cap="none" strike="noStrike">
              <a:solidFill>
                <a:schemeClr val="dk1"/>
              </a:solidFill>
              <a:latin typeface="Calibri"/>
              <a:ea typeface="Calibri"/>
              <a:cs typeface="Calibri"/>
              <a:sym typeface="Calibri"/>
            </a:endParaRPr>
          </a:p>
        </p:txBody>
      </p:sp>
      <p:sp>
        <p:nvSpPr>
          <p:cNvPr id="336" name="Google Shape;336;p14"/>
          <p:cNvSpPr txBox="1"/>
          <p:nvPr/>
        </p:nvSpPr>
        <p:spPr>
          <a:xfrm>
            <a:off x="457200" y="4069080"/>
            <a:ext cx="7680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1" lang="en-US" sz="1800" u="none" cap="none" strike="noStrike">
                <a:solidFill>
                  <a:schemeClr val="accent1"/>
                </a:solidFill>
                <a:latin typeface="Calibri"/>
                <a:ea typeface="Calibri"/>
                <a:cs typeface="Calibri"/>
                <a:sym typeface="Calibri"/>
              </a:rPr>
              <a:t>Mappings transform the data. Taskflow turns it into a reliable business process.</a:t>
            </a:r>
            <a:endParaRPr b="0" i="0" sz="1800" u="none" cap="none" strike="noStrike">
              <a:solidFill>
                <a:schemeClr val="dk1"/>
              </a:solidFill>
              <a:latin typeface="Calibri"/>
              <a:ea typeface="Calibri"/>
              <a:cs typeface="Calibri"/>
              <a:sym typeface="Calibri"/>
            </a:endParaRPr>
          </a:p>
        </p:txBody>
      </p:sp>
      <p:sp>
        <p:nvSpPr>
          <p:cNvPr id="337" name="Google Shape;337;p14"/>
          <p:cNvSpPr txBox="1"/>
          <p:nvPr>
            <p:ph idx="4294967295" type="sldNum"/>
          </p:nvPr>
        </p:nvSpPr>
        <p:spPr>
          <a:xfrm>
            <a:off x="8321040" y="4773168"/>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000" u="none" cap="none" strike="noStrike">
                <a:solidFill>
                  <a:srgbClr val="9AA6C4"/>
                </a:solidFill>
                <a:latin typeface="Calibri"/>
                <a:ea typeface="Calibri"/>
                <a:cs typeface="Calibri"/>
                <a:sym typeface="Calibri"/>
              </a:rPr>
              <a:t>‹#›</a:t>
            </a:fld>
            <a:endParaRPr b="0" i="0" sz="1000" u="none" cap="none" strike="noStrike">
              <a:solidFill>
                <a:srgbClr val="9AA6C4"/>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IDMC Taskflow">
  <a:themeElements>
    <a:clrScheme name="IDMC Taskflow">
      <a:dk1>
        <a:srgbClr val="1A1F36"/>
      </a:dk1>
      <a:lt1>
        <a:srgbClr val="FFFFFF"/>
      </a:lt1>
      <a:dk2>
        <a:srgbClr val="14213D"/>
      </a:dk2>
      <a:lt2>
        <a:srgbClr val="F3F5F9"/>
      </a:lt2>
      <a:accent1>
        <a:srgbClr val="FF6A13"/>
      </a:accent1>
      <a:accent2>
        <a:srgbClr val="2A9D8F"/>
      </a:accent2>
      <a:accent3>
        <a:srgbClr val="3D5A99"/>
      </a:accent3>
      <a:accent4>
        <a:srgbClr val="E9B44C"/>
      </a:accent4>
      <a:accent5>
        <a:srgbClr val="D64550"/>
      </a:accent5>
      <a:accent6>
        <a:srgbClr val="6B7A99"/>
      </a:accent6>
      <a:hlink>
        <a:srgbClr val="3D5A99"/>
      </a:hlink>
      <a:folHlink>
        <a:srgbClr val="6B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DMC Taskflow">
  <a:themeElements>
    <a:clrScheme name="IDMC Taskflow">
      <a:dk1>
        <a:srgbClr val="1A1F36"/>
      </a:dk1>
      <a:lt1>
        <a:srgbClr val="FFFFFF"/>
      </a:lt1>
      <a:dk2>
        <a:srgbClr val="14213D"/>
      </a:dk2>
      <a:lt2>
        <a:srgbClr val="F3F5F9"/>
      </a:lt2>
      <a:accent1>
        <a:srgbClr val="FF6A13"/>
      </a:accent1>
      <a:accent2>
        <a:srgbClr val="2A9D8F"/>
      </a:accent2>
      <a:accent3>
        <a:srgbClr val="3D5A99"/>
      </a:accent3>
      <a:accent4>
        <a:srgbClr val="E9B44C"/>
      </a:accent4>
      <a:accent5>
        <a:srgbClr val="D64550"/>
      </a:accent5>
      <a:accent6>
        <a:srgbClr val="6B7A99"/>
      </a:accent6>
      <a:hlink>
        <a:srgbClr val="3D5A99"/>
      </a:hlink>
      <a:folHlink>
        <a:srgbClr val="6B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2026-10-22T20:09:03Z</dcterms:created>
  <dc:creator>PptxGenJS</dc:creator>
</cp:coreProperties>
</file>